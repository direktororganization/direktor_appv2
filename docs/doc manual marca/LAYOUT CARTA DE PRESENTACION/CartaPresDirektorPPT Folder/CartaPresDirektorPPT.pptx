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795000" cy="6845300"/>
  <p:notesSz cx="10795000" cy="68453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264" y="-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0101" y="2122043"/>
            <a:ext cx="9181148" cy="1437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20202" y="3833368"/>
            <a:ext cx="7560945" cy="171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09/12/20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C3C6E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09/12/20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C3C6E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0067" y="1574419"/>
            <a:ext cx="4698587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62695" y="1574419"/>
            <a:ext cx="4698587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09/12/20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C3C6E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09/12/20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09/12/20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300" y="433933"/>
            <a:ext cx="9938748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C3C6E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0067" y="1574419"/>
            <a:ext cx="9721215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72459" y="6366129"/>
            <a:ext cx="3456432" cy="34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0067" y="6366129"/>
            <a:ext cx="2484310" cy="34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09/12/20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76972" y="6366129"/>
            <a:ext cx="2484310" cy="34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IREKTOR.PE/" TargetMode="External"/><Relationship Id="rId3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hyperlink" Target="http://WWW.DIREKTOR.PE/" TargetMode="Externa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hyperlink" Target="mailto:info@direktor.pe" TargetMode="External"/><Relationship Id="rId7" Type="http://schemas.openxmlformats.org/officeDocument/2006/relationships/hyperlink" Target="mailto:dwhurtado@direktor.pe" TargetMode="External"/><Relationship Id="rId8" Type="http://schemas.openxmlformats.org/officeDocument/2006/relationships/hyperlink" Target="http://WWW.DIREKTOR.PE/" TargetMode="Externa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800003" cy="6839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800134" cy="6840556"/>
            <a:chOff x="0" y="12"/>
            <a:chExt cx="10800134" cy="6840556"/>
          </a:xfrm>
        </p:grpSpPr>
        <p:sp>
          <p:nvSpPr>
            <p:cNvPr id="3" name="object 3"/>
            <p:cNvSpPr/>
            <p:nvPr/>
          </p:nvSpPr>
          <p:spPr>
            <a:xfrm>
              <a:off x="0" y="12"/>
              <a:ext cx="10800003" cy="68399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89404" y="2803590"/>
              <a:ext cx="7110730" cy="1986914"/>
            </a:xfrm>
            <a:custGeom>
              <a:avLst/>
              <a:gdLst/>
              <a:ahLst/>
              <a:cxnLst/>
              <a:rect l="l" t="t" r="r" b="b"/>
              <a:pathLst>
                <a:path w="7110730" h="1986914">
                  <a:moveTo>
                    <a:pt x="7110599" y="0"/>
                  </a:moveTo>
                  <a:lnTo>
                    <a:pt x="0" y="1073432"/>
                  </a:lnTo>
                  <a:lnTo>
                    <a:pt x="7110599" y="1986850"/>
                  </a:lnTo>
                  <a:lnTo>
                    <a:pt x="7110599" y="0"/>
                  </a:lnTo>
                  <a:close/>
                </a:path>
              </a:pathLst>
            </a:custGeom>
            <a:solidFill>
              <a:srgbClr val="FFC708">
                <a:alpha val="77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403085"/>
              <a:ext cx="3689985" cy="1031240"/>
            </a:xfrm>
            <a:custGeom>
              <a:avLst/>
              <a:gdLst/>
              <a:ahLst/>
              <a:cxnLst/>
              <a:rect l="l" t="t" r="r" b="b"/>
              <a:pathLst>
                <a:path w="3689984" h="1031239">
                  <a:moveTo>
                    <a:pt x="0" y="0"/>
                  </a:moveTo>
                  <a:lnTo>
                    <a:pt x="0" y="1030894"/>
                  </a:lnTo>
                  <a:lnTo>
                    <a:pt x="3689409" y="473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8D2A">
                <a:alpha val="69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877023"/>
              <a:ext cx="10800080" cy="2963545"/>
            </a:xfrm>
            <a:custGeom>
              <a:avLst/>
              <a:gdLst/>
              <a:ahLst/>
              <a:cxnLst/>
              <a:rect l="l" t="t" r="r" b="b"/>
              <a:pathLst>
                <a:path w="10800080" h="2963545">
                  <a:moveTo>
                    <a:pt x="3689406" y="0"/>
                  </a:moveTo>
                  <a:lnTo>
                    <a:pt x="0" y="558692"/>
                  </a:lnTo>
                  <a:lnTo>
                    <a:pt x="0" y="2962981"/>
                  </a:lnTo>
                  <a:lnTo>
                    <a:pt x="10800003" y="2962981"/>
                  </a:lnTo>
                  <a:lnTo>
                    <a:pt x="10800003" y="916252"/>
                  </a:lnTo>
                  <a:lnTo>
                    <a:pt x="3689406" y="0"/>
                  </a:lnTo>
                  <a:close/>
                </a:path>
              </a:pathLst>
            </a:custGeom>
            <a:solidFill>
              <a:srgbClr val="4479BD">
                <a:alpha val="82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36128" y="4503733"/>
            <a:ext cx="4000500" cy="989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FF"/>
                </a:solidFill>
                <a:latin typeface="Montserrat"/>
                <a:cs typeface="Montserrat"/>
              </a:rPr>
              <a:t>Presentación</a:t>
            </a:r>
            <a:endParaRPr sz="2600">
              <a:latin typeface="Montserrat"/>
              <a:cs typeface="Montserrat"/>
            </a:endParaRPr>
          </a:p>
          <a:p>
            <a:pPr marL="15240" marR="5080">
              <a:lnSpc>
                <a:spcPct val="101899"/>
              </a:lnSpc>
              <a:spcBef>
                <a:spcPts val="65"/>
              </a:spcBef>
            </a:pP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DE LA </a:t>
            </a:r>
            <a:r>
              <a:rPr sz="1800" spc="40" dirty="0">
                <a:solidFill>
                  <a:srgbClr val="FFFFFF"/>
                </a:solidFill>
                <a:latin typeface="BwSeidoRound-Light"/>
                <a:cs typeface="BwSeidoRound-Light"/>
              </a:rPr>
              <a:t>TRANSFORMACIÓN </a:t>
            </a: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DIGITAL  </a:t>
            </a:r>
            <a:r>
              <a:rPr sz="1800" dirty="0">
                <a:solidFill>
                  <a:srgbClr val="FFFFFF"/>
                </a:solidFill>
                <a:latin typeface="BwSeidoRound-Light"/>
                <a:cs typeface="BwSeidoRound-Light"/>
              </a:rPr>
              <a:t>A </a:t>
            </a: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LA </a:t>
            </a:r>
            <a:r>
              <a:rPr sz="1800" spc="35" dirty="0">
                <a:solidFill>
                  <a:srgbClr val="FFFFFF"/>
                </a:solidFill>
                <a:latin typeface="BwSeidoRound-Light"/>
                <a:cs typeface="BwSeidoRound-Light"/>
              </a:rPr>
              <a:t>EXCELENCIA </a:t>
            </a: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EN</a:t>
            </a:r>
            <a:r>
              <a:rPr sz="1800" spc="95" dirty="0">
                <a:solidFill>
                  <a:srgbClr val="FFFFFF"/>
                </a:solidFill>
                <a:latin typeface="BwSeidoRound-Light"/>
                <a:cs typeface="BwSeidoRound-Light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BwSeidoRound-Light"/>
                <a:cs typeface="BwSeidoRound-Light"/>
              </a:rPr>
              <a:t>PROCESOS</a:t>
            </a:r>
            <a:endParaRPr sz="1800">
              <a:latin typeface="BwSeidoRound-Light"/>
              <a:cs typeface="BwSeidoRound-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0951" y="5941237"/>
            <a:ext cx="3771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Somos una empresa 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joven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y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dinámica comprometida 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con 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acompañar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a nuestros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clientes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en 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cada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paso hacia la</a:t>
            </a:r>
            <a:r>
              <a:rPr sz="1000" spc="-20" dirty="0">
                <a:solidFill>
                  <a:srgbClr val="FFFFFF"/>
                </a:solidFill>
                <a:latin typeface="Montserrat-Light"/>
                <a:cs typeface="Montserrat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mejora 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de tu empresa en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todo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nivel.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2028" y="5609348"/>
            <a:ext cx="1426845" cy="2139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305"/>
              </a:spcBef>
            </a:pPr>
            <a:r>
              <a:rPr sz="900" b="1" dirty="0">
                <a:solidFill>
                  <a:srgbClr val="F79423"/>
                </a:solidFill>
                <a:latin typeface="Montserrat"/>
                <a:cs typeface="Montserrat"/>
              </a:rPr>
              <a:t>Diciembre</a:t>
            </a:r>
            <a:r>
              <a:rPr sz="900" b="1" spc="-10" dirty="0">
                <a:solidFill>
                  <a:srgbClr val="F79423"/>
                </a:solidFill>
                <a:latin typeface="Montserrat"/>
                <a:cs typeface="Montserrat"/>
              </a:rPr>
              <a:t> </a:t>
            </a:r>
            <a:r>
              <a:rPr sz="900" b="1" dirty="0">
                <a:solidFill>
                  <a:srgbClr val="F79423"/>
                </a:solidFill>
                <a:latin typeface="Montserrat"/>
                <a:cs typeface="Montserrat"/>
              </a:rPr>
              <a:t>2020</a:t>
            </a:r>
            <a:endParaRPr sz="9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ondoportada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807887" cy="6845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36128" y="4503733"/>
            <a:ext cx="4000500" cy="989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FF"/>
                </a:solidFill>
                <a:latin typeface="Montserrat"/>
                <a:cs typeface="Montserrat"/>
              </a:rPr>
              <a:t>Presentación</a:t>
            </a:r>
            <a:endParaRPr sz="2600">
              <a:latin typeface="Montserrat"/>
              <a:cs typeface="Montserrat"/>
            </a:endParaRPr>
          </a:p>
          <a:p>
            <a:pPr marL="15240" marR="5080">
              <a:lnSpc>
                <a:spcPct val="101899"/>
              </a:lnSpc>
              <a:spcBef>
                <a:spcPts val="65"/>
              </a:spcBef>
            </a:pP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DE LA </a:t>
            </a:r>
            <a:r>
              <a:rPr sz="1800" spc="40" dirty="0">
                <a:solidFill>
                  <a:srgbClr val="FFFFFF"/>
                </a:solidFill>
                <a:latin typeface="BwSeidoRound-Light"/>
                <a:cs typeface="BwSeidoRound-Light"/>
              </a:rPr>
              <a:t>TRANSFORMACIÓN </a:t>
            </a: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DIGITAL  </a:t>
            </a:r>
            <a:r>
              <a:rPr sz="1800" dirty="0">
                <a:solidFill>
                  <a:srgbClr val="FFFFFF"/>
                </a:solidFill>
                <a:latin typeface="BwSeidoRound-Light"/>
                <a:cs typeface="BwSeidoRound-Light"/>
              </a:rPr>
              <a:t>A </a:t>
            </a: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LA </a:t>
            </a:r>
            <a:r>
              <a:rPr sz="1800" spc="35" dirty="0">
                <a:solidFill>
                  <a:srgbClr val="FFFFFF"/>
                </a:solidFill>
                <a:latin typeface="BwSeidoRound-Light"/>
                <a:cs typeface="BwSeidoRound-Light"/>
              </a:rPr>
              <a:t>EXCELENCIA </a:t>
            </a:r>
            <a:r>
              <a:rPr sz="1800" spc="25" dirty="0">
                <a:solidFill>
                  <a:srgbClr val="FFFFFF"/>
                </a:solidFill>
                <a:latin typeface="BwSeidoRound-Light"/>
                <a:cs typeface="BwSeidoRound-Light"/>
              </a:rPr>
              <a:t>EN</a:t>
            </a:r>
            <a:r>
              <a:rPr sz="1800" spc="95" dirty="0">
                <a:solidFill>
                  <a:srgbClr val="FFFFFF"/>
                </a:solidFill>
                <a:latin typeface="BwSeidoRound-Light"/>
                <a:cs typeface="BwSeidoRound-Light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BwSeidoRound-Light"/>
                <a:cs typeface="BwSeidoRound-Light"/>
              </a:rPr>
              <a:t>PROCESOS</a:t>
            </a:r>
            <a:endParaRPr sz="1800">
              <a:latin typeface="BwSeidoRound-Light"/>
              <a:cs typeface="BwSeidoRound-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0951" y="5941237"/>
            <a:ext cx="3771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Somos una empresa 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joven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y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dinámica comprometida 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con 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acompañar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a nuestros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clientes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en 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cada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paso hacia la</a:t>
            </a:r>
            <a:r>
              <a:rPr sz="1000" spc="-20" dirty="0">
                <a:solidFill>
                  <a:srgbClr val="FFFFFF"/>
                </a:solidFill>
                <a:latin typeface="Montserrat-Light"/>
                <a:cs typeface="Montserrat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mejora 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de tu empresa en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todo</a:t>
            </a:r>
            <a:r>
              <a:rPr sz="1000" spc="-10" dirty="0">
                <a:solidFill>
                  <a:srgbClr val="FFFFFF"/>
                </a:solidFill>
                <a:latin typeface="Montserrat-Light"/>
                <a:cs typeface="Montserrat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nivel.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2028" y="5609348"/>
            <a:ext cx="1426845" cy="2139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305"/>
              </a:spcBef>
            </a:pPr>
            <a:r>
              <a:rPr sz="900" b="1" dirty="0">
                <a:solidFill>
                  <a:srgbClr val="F79423"/>
                </a:solidFill>
                <a:latin typeface="Montserrat"/>
                <a:cs typeface="Montserrat"/>
              </a:rPr>
              <a:t>Diciembre</a:t>
            </a:r>
            <a:r>
              <a:rPr sz="900" b="1" spc="-10" dirty="0">
                <a:solidFill>
                  <a:srgbClr val="F79423"/>
                </a:solidFill>
                <a:latin typeface="Montserrat"/>
                <a:cs typeface="Montserrat"/>
              </a:rPr>
              <a:t> </a:t>
            </a:r>
            <a:r>
              <a:rPr sz="900" b="1" dirty="0">
                <a:solidFill>
                  <a:srgbClr val="F79423"/>
                </a:solidFill>
                <a:latin typeface="Montserrat"/>
                <a:cs typeface="Montserrat"/>
              </a:rPr>
              <a:t>2020</a:t>
            </a:r>
            <a:endParaRPr sz="900">
              <a:latin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6377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800080" cy="6840220"/>
          </a:xfrm>
          <a:custGeom>
            <a:avLst/>
            <a:gdLst/>
            <a:ahLst/>
            <a:cxnLst/>
            <a:rect l="l" t="t" r="r" b="b"/>
            <a:pathLst>
              <a:path w="10800080" h="6840220">
                <a:moveTo>
                  <a:pt x="10800003" y="0"/>
                </a:moveTo>
                <a:lnTo>
                  <a:pt x="0" y="0"/>
                </a:lnTo>
                <a:lnTo>
                  <a:pt x="0" y="6839991"/>
                </a:lnTo>
                <a:lnTo>
                  <a:pt x="10800003" y="6839991"/>
                </a:lnTo>
                <a:lnTo>
                  <a:pt x="10800003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0800080" cy="6840220"/>
            <a:chOff x="0" y="0"/>
            <a:chExt cx="10800080" cy="684022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0799999" cy="59930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054403"/>
              <a:ext cx="10800080" cy="2785745"/>
            </a:xfrm>
            <a:custGeom>
              <a:avLst/>
              <a:gdLst/>
              <a:ahLst/>
              <a:cxnLst/>
              <a:rect l="l" t="t" r="r" b="b"/>
              <a:pathLst>
                <a:path w="10800080" h="2785745">
                  <a:moveTo>
                    <a:pt x="10800003" y="0"/>
                  </a:moveTo>
                  <a:lnTo>
                    <a:pt x="0" y="1415097"/>
                  </a:lnTo>
                  <a:lnTo>
                    <a:pt x="0" y="2784729"/>
                  </a:lnTo>
                  <a:lnTo>
                    <a:pt x="10800003" y="2785605"/>
                  </a:lnTo>
                  <a:lnTo>
                    <a:pt x="10800003" y="0"/>
                  </a:lnTo>
                  <a:close/>
                </a:path>
              </a:pathLst>
            </a:custGeom>
            <a:solidFill>
              <a:srgbClr val="4B7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1109" y="4041693"/>
              <a:ext cx="5579110" cy="1324610"/>
            </a:xfrm>
            <a:custGeom>
              <a:avLst/>
              <a:gdLst/>
              <a:ahLst/>
              <a:cxnLst/>
              <a:rect l="l" t="t" r="r" b="b"/>
              <a:pathLst>
                <a:path w="5579109" h="1324610">
                  <a:moveTo>
                    <a:pt x="5578894" y="0"/>
                  </a:moveTo>
                  <a:lnTo>
                    <a:pt x="0" y="741184"/>
                  </a:lnTo>
                  <a:lnTo>
                    <a:pt x="5578894" y="1324305"/>
                  </a:lnTo>
                  <a:lnTo>
                    <a:pt x="5578894" y="0"/>
                  </a:lnTo>
                  <a:close/>
                </a:path>
              </a:pathLst>
            </a:custGeom>
            <a:solidFill>
              <a:srgbClr val="FFC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644003"/>
              <a:ext cx="3049270" cy="840105"/>
            </a:xfrm>
            <a:custGeom>
              <a:avLst/>
              <a:gdLst/>
              <a:ahLst/>
              <a:cxnLst/>
              <a:rect l="l" t="t" r="r" b="b"/>
              <a:pathLst>
                <a:path w="3049270" h="840104">
                  <a:moveTo>
                    <a:pt x="0" y="0"/>
                  </a:moveTo>
                  <a:lnTo>
                    <a:pt x="0" y="840105"/>
                  </a:lnTo>
                  <a:lnTo>
                    <a:pt x="3048736" y="423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6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730005" y="6246622"/>
            <a:ext cx="1369695" cy="2724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6096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480"/>
              </a:spcBef>
            </a:pPr>
            <a:r>
              <a:rPr sz="1000" b="1" dirty="0">
                <a:solidFill>
                  <a:srgbClr val="F79423"/>
                </a:solidFill>
                <a:latin typeface="Montserrat"/>
                <a:cs typeface="Montserrat"/>
              </a:rPr>
              <a:t>CEO</a:t>
            </a:r>
            <a:r>
              <a:rPr sz="1000" b="1" spc="-15" dirty="0">
                <a:solidFill>
                  <a:srgbClr val="F79423"/>
                </a:solidFill>
                <a:latin typeface="Montserrat"/>
                <a:cs typeface="Montserrat"/>
              </a:rPr>
              <a:t> </a:t>
            </a:r>
            <a:r>
              <a:rPr sz="1000" b="1" spc="-5" dirty="0">
                <a:solidFill>
                  <a:srgbClr val="F79423"/>
                </a:solidFill>
                <a:latin typeface="Montserrat"/>
                <a:cs typeface="Montserrat"/>
              </a:rPr>
              <a:t>DIREKTOR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950" y="4087405"/>
            <a:ext cx="3224530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-140" dirty="0">
                <a:solidFill>
                  <a:srgbClr val="F79423"/>
                </a:solidFill>
                <a:latin typeface="Kiona"/>
                <a:cs typeface="Kiona"/>
              </a:rPr>
              <a:t>data</a:t>
            </a:r>
            <a:r>
              <a:rPr sz="2600" b="1" spc="-30" dirty="0">
                <a:solidFill>
                  <a:srgbClr val="F79423"/>
                </a:solidFill>
                <a:latin typeface="Kiona"/>
                <a:cs typeface="Kiona"/>
              </a:rPr>
              <a:t> </a:t>
            </a:r>
            <a:r>
              <a:rPr sz="2600" spc="10" dirty="0">
                <a:solidFill>
                  <a:srgbClr val="F79423"/>
                </a:solidFill>
                <a:latin typeface="Kiona"/>
                <a:cs typeface="Kiona"/>
              </a:rPr>
              <a:t>intelligence</a:t>
            </a:r>
            <a:endParaRPr sz="2600" dirty="0">
              <a:latin typeface="Kiona"/>
              <a:cs typeface="Kio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500" y="1477735"/>
            <a:ext cx="21596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5" dirty="0">
                <a:latin typeface="Montserrat-Light"/>
                <a:cs typeface="Montserrat-Light"/>
              </a:rPr>
              <a:t>Lorem ipsum dolor sit amet, </a:t>
            </a:r>
            <a:r>
              <a:rPr sz="1000" dirty="0">
                <a:latin typeface="Montserrat-Light"/>
                <a:cs typeface="Montserrat-Light"/>
              </a:rPr>
              <a:t>con-  </a:t>
            </a:r>
            <a:r>
              <a:rPr sz="1000" spc="5" dirty="0">
                <a:latin typeface="Montserrat-Light"/>
                <a:cs typeface="Montserrat-Light"/>
              </a:rPr>
              <a:t>sectetuer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adipiscing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elit,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sed</a:t>
            </a:r>
            <a:r>
              <a:rPr sz="1000" spc="-45" dirty="0">
                <a:latin typeface="Montserrat-Light"/>
                <a:cs typeface="Montserrat-Light"/>
              </a:rPr>
              <a:t> </a:t>
            </a:r>
            <a:r>
              <a:rPr sz="1000" spc="10" dirty="0">
                <a:latin typeface="Montserrat-Light"/>
                <a:cs typeface="Montserrat-Light"/>
              </a:rPr>
              <a:t>diam  </a:t>
            </a:r>
            <a:r>
              <a:rPr sz="1000" spc="5" dirty="0">
                <a:latin typeface="Montserrat-Light"/>
                <a:cs typeface="Montserrat-Light"/>
              </a:rPr>
              <a:t>nonummy nibh euismod tinci-  dunt ut laoreet dolore magna al-  iquam </a:t>
            </a:r>
            <a:r>
              <a:rPr sz="1000" dirty="0">
                <a:latin typeface="Montserrat-Light"/>
                <a:cs typeface="Montserrat-Light"/>
              </a:rPr>
              <a:t>erat </a:t>
            </a:r>
            <a:r>
              <a:rPr sz="1000" spc="5" dirty="0">
                <a:latin typeface="Montserrat-Light"/>
                <a:cs typeface="Montserrat-Light"/>
              </a:rPr>
              <a:t>volutpat. Ut wisi </a:t>
            </a:r>
            <a:r>
              <a:rPr sz="1000" spc="10" dirty="0">
                <a:latin typeface="Montserrat-Light"/>
                <a:cs typeface="Montserrat-Light"/>
              </a:rPr>
              <a:t>enim  </a:t>
            </a:r>
            <a:r>
              <a:rPr sz="1000" spc="5" dirty="0">
                <a:latin typeface="Montserrat-Light"/>
                <a:cs typeface="Montserrat-Light"/>
              </a:rPr>
              <a:t>ad minim veniam, quis </a:t>
            </a:r>
            <a:r>
              <a:rPr sz="1000" spc="10" dirty="0">
                <a:latin typeface="Montserrat-Light"/>
                <a:cs typeface="Montserrat-Light"/>
              </a:rPr>
              <a:t>nostrud  </a:t>
            </a:r>
            <a:r>
              <a:rPr sz="1000" spc="-5" dirty="0">
                <a:latin typeface="Montserrat-Light"/>
                <a:cs typeface="Montserrat-Light"/>
              </a:rPr>
              <a:t>exerci </a:t>
            </a:r>
            <a:r>
              <a:rPr sz="1000" spc="5" dirty="0">
                <a:latin typeface="Montserrat-Light"/>
                <a:cs typeface="Montserrat-Light"/>
              </a:rPr>
              <a:t>tation ullamcorper </a:t>
            </a:r>
            <a:r>
              <a:rPr sz="1000" spc="10" dirty="0">
                <a:latin typeface="Montserrat-Light"/>
                <a:cs typeface="Montserrat-Light"/>
              </a:rPr>
              <a:t>suscipit  </a:t>
            </a:r>
            <a:r>
              <a:rPr sz="1000" spc="5" dirty="0">
                <a:latin typeface="Montserrat-Light"/>
                <a:cs typeface="Montserrat-Light"/>
              </a:rPr>
              <a:t>lobortis nisl ut Lorem ipsum</a:t>
            </a:r>
            <a:r>
              <a:rPr sz="1000" spc="-25" dirty="0">
                <a:latin typeface="Montserrat-Light"/>
                <a:cs typeface="Montserrat-Light"/>
              </a:rPr>
              <a:t> </a:t>
            </a:r>
            <a:r>
              <a:rPr sz="1000" spc="10" dirty="0">
                <a:latin typeface="Montserrat-Light"/>
                <a:cs typeface="Montserrat-Light"/>
              </a:rPr>
              <a:t>dolor  </a:t>
            </a:r>
            <a:r>
              <a:rPr sz="1000" spc="5" dirty="0">
                <a:latin typeface="Montserrat-Light"/>
                <a:cs typeface="Montserrat-Light"/>
              </a:rPr>
              <a:t>sit amet,</a:t>
            </a:r>
            <a:r>
              <a:rPr sz="1000" spc="3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consecte.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3001735"/>
            <a:ext cx="21596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5" dirty="0">
                <a:latin typeface="Montserrat-Light"/>
                <a:cs typeface="Montserrat-Light"/>
              </a:rPr>
              <a:t>Lorem ipsum dolor sit amet, </a:t>
            </a:r>
            <a:r>
              <a:rPr sz="1000" dirty="0">
                <a:latin typeface="Montserrat-Light"/>
                <a:cs typeface="Montserrat-Light"/>
              </a:rPr>
              <a:t>con-  </a:t>
            </a:r>
            <a:r>
              <a:rPr sz="1000" spc="5" dirty="0">
                <a:latin typeface="Montserrat-Light"/>
                <a:cs typeface="Montserrat-Light"/>
              </a:rPr>
              <a:t>sectetuer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adipiscing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elit,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sed</a:t>
            </a:r>
            <a:r>
              <a:rPr sz="1000" spc="-45" dirty="0">
                <a:latin typeface="Montserrat-Light"/>
                <a:cs typeface="Montserrat-Light"/>
              </a:rPr>
              <a:t> </a:t>
            </a:r>
            <a:r>
              <a:rPr sz="1000" spc="10" dirty="0">
                <a:latin typeface="Montserrat-Light"/>
                <a:cs typeface="Montserrat-Light"/>
              </a:rPr>
              <a:t>diam  </a:t>
            </a:r>
            <a:r>
              <a:rPr sz="1000" spc="5" dirty="0">
                <a:latin typeface="Montserrat-Light"/>
                <a:cs typeface="Montserrat-Light"/>
              </a:rPr>
              <a:t>nonummy nibh euismod tinci-  dunt ut laoreet dolore magna al-  iquam </a:t>
            </a:r>
            <a:r>
              <a:rPr sz="1000" dirty="0">
                <a:latin typeface="Montserrat-Light"/>
                <a:cs typeface="Montserrat-Light"/>
              </a:rPr>
              <a:t>erat </a:t>
            </a:r>
            <a:r>
              <a:rPr sz="1000" spc="5" dirty="0">
                <a:latin typeface="Montserrat-Light"/>
                <a:cs typeface="Montserrat-Light"/>
              </a:rPr>
              <a:t>volutpat. Ut wisi </a:t>
            </a:r>
            <a:r>
              <a:rPr sz="1000" spc="10" dirty="0">
                <a:latin typeface="Montserrat-Light"/>
                <a:cs typeface="Montserrat-Light"/>
              </a:rPr>
              <a:t>enim  </a:t>
            </a:r>
            <a:r>
              <a:rPr sz="1000" spc="5" dirty="0">
                <a:latin typeface="Montserrat-Light"/>
                <a:cs typeface="Montserrat-Light"/>
              </a:rPr>
              <a:t>ad minim veniam, quis</a:t>
            </a:r>
            <a:r>
              <a:rPr sz="1000" spc="25" dirty="0">
                <a:latin typeface="Montserrat-Light"/>
                <a:cs typeface="Montserrat-Light"/>
              </a:rPr>
              <a:t> </a:t>
            </a:r>
            <a:r>
              <a:rPr sz="1000" spc="10" dirty="0">
                <a:latin typeface="Montserrat-Light"/>
                <a:cs typeface="Montserrat-Light"/>
              </a:rPr>
              <a:t>nostrud.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3299" y="1477735"/>
            <a:ext cx="21596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5" dirty="0">
                <a:latin typeface="Montserrat-Light"/>
                <a:cs typeface="Montserrat-Light"/>
              </a:rPr>
              <a:t>Lorem ipsum dolor sit amet, </a:t>
            </a:r>
            <a:r>
              <a:rPr sz="1000" dirty="0">
                <a:latin typeface="Montserrat-Light"/>
                <a:cs typeface="Montserrat-Light"/>
              </a:rPr>
              <a:t>con-  </a:t>
            </a:r>
            <a:r>
              <a:rPr sz="1000" spc="5" dirty="0">
                <a:latin typeface="Montserrat-Light"/>
                <a:cs typeface="Montserrat-Light"/>
              </a:rPr>
              <a:t>sectetuer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adipiscing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elit,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sed</a:t>
            </a:r>
            <a:r>
              <a:rPr sz="1000" spc="-45" dirty="0">
                <a:latin typeface="Montserrat-Light"/>
                <a:cs typeface="Montserrat-Light"/>
              </a:rPr>
              <a:t> </a:t>
            </a:r>
            <a:r>
              <a:rPr sz="1000" spc="10" dirty="0">
                <a:latin typeface="Montserrat-Light"/>
                <a:cs typeface="Montserrat-Light"/>
              </a:rPr>
              <a:t>diam  </a:t>
            </a:r>
            <a:r>
              <a:rPr sz="1000" spc="5" dirty="0">
                <a:latin typeface="Montserrat-Light"/>
                <a:cs typeface="Montserrat-Light"/>
              </a:rPr>
              <a:t>nonummy nibh euismod tinci-  dunt ut laoreet dolore magna al-  iquam </a:t>
            </a:r>
            <a:r>
              <a:rPr sz="1000" dirty="0">
                <a:latin typeface="Montserrat-Light"/>
                <a:cs typeface="Montserrat-Light"/>
              </a:rPr>
              <a:t>erat </a:t>
            </a:r>
            <a:r>
              <a:rPr sz="1000" spc="5" dirty="0">
                <a:latin typeface="Montserrat-Light"/>
                <a:cs typeface="Montserrat-Light"/>
              </a:rPr>
              <a:t>volutpat. Ut wisi </a:t>
            </a:r>
            <a:r>
              <a:rPr sz="1000" spc="10" dirty="0">
                <a:latin typeface="Montserrat-Light"/>
                <a:cs typeface="Montserrat-Light"/>
              </a:rPr>
              <a:t>enim  </a:t>
            </a:r>
            <a:r>
              <a:rPr sz="1000" spc="5" dirty="0">
                <a:latin typeface="Montserrat-Light"/>
                <a:cs typeface="Montserrat-Light"/>
              </a:rPr>
              <a:t>ad minim veniam, quis </a:t>
            </a:r>
            <a:r>
              <a:rPr sz="1000" spc="10" dirty="0">
                <a:latin typeface="Montserrat-Light"/>
                <a:cs typeface="Montserrat-Light"/>
              </a:rPr>
              <a:t>nostrud  </a:t>
            </a:r>
            <a:r>
              <a:rPr sz="1000" spc="-5" dirty="0">
                <a:latin typeface="Montserrat-Light"/>
                <a:cs typeface="Montserrat-Light"/>
              </a:rPr>
              <a:t>exerci </a:t>
            </a:r>
            <a:r>
              <a:rPr sz="1000" spc="5" dirty="0">
                <a:latin typeface="Montserrat-Light"/>
                <a:cs typeface="Montserrat-Light"/>
              </a:rPr>
              <a:t>tation ullamcorper </a:t>
            </a:r>
            <a:r>
              <a:rPr sz="1000" spc="10" dirty="0">
                <a:latin typeface="Montserrat-Light"/>
                <a:cs typeface="Montserrat-Light"/>
              </a:rPr>
              <a:t>suscipit  </a:t>
            </a:r>
            <a:r>
              <a:rPr sz="1000" spc="5" dirty="0">
                <a:latin typeface="Montserrat-Light"/>
                <a:cs typeface="Montserrat-Light"/>
              </a:rPr>
              <a:t>lobortis nisl ut Lorem ipsum</a:t>
            </a:r>
            <a:r>
              <a:rPr sz="1000" spc="-25" dirty="0">
                <a:latin typeface="Montserrat-Light"/>
                <a:cs typeface="Montserrat-Light"/>
              </a:rPr>
              <a:t> </a:t>
            </a:r>
            <a:r>
              <a:rPr sz="1000" spc="10" dirty="0">
                <a:latin typeface="Montserrat-Light"/>
                <a:cs typeface="Montserrat-Light"/>
              </a:rPr>
              <a:t>dolor  </a:t>
            </a:r>
            <a:r>
              <a:rPr sz="1000" spc="5" dirty="0">
                <a:latin typeface="Montserrat-Light"/>
                <a:cs typeface="Montserrat-Light"/>
              </a:rPr>
              <a:t>sit amet,</a:t>
            </a:r>
            <a:r>
              <a:rPr sz="1000" spc="3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consecte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03299" y="3001735"/>
            <a:ext cx="21596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5" dirty="0">
                <a:latin typeface="Montserrat-Light"/>
                <a:cs typeface="Montserrat-Light"/>
              </a:rPr>
              <a:t>Lorem ipsum dolor sit </a:t>
            </a:r>
            <a:r>
              <a:rPr sz="1000" spc="10" dirty="0">
                <a:latin typeface="Montserrat-Light"/>
                <a:cs typeface="Montserrat-Light"/>
              </a:rPr>
              <a:t>amet,  </a:t>
            </a:r>
            <a:r>
              <a:rPr sz="1000" spc="5" dirty="0">
                <a:latin typeface="Montserrat-Light"/>
                <a:cs typeface="Montserrat-Light"/>
              </a:rPr>
              <a:t>consectetuer adipiscing elit, </a:t>
            </a:r>
            <a:r>
              <a:rPr sz="1000" spc="10" dirty="0">
                <a:latin typeface="Montserrat-Light"/>
                <a:cs typeface="Montserrat-Light"/>
              </a:rPr>
              <a:t>sed  </a:t>
            </a:r>
            <a:r>
              <a:rPr sz="1000" spc="5" dirty="0">
                <a:latin typeface="Montserrat-Light"/>
                <a:cs typeface="Montserrat-Light"/>
              </a:rPr>
              <a:t>diam nonummy nibh </a:t>
            </a:r>
            <a:r>
              <a:rPr sz="1000" spc="10" dirty="0">
                <a:latin typeface="Montserrat-Light"/>
                <a:cs typeface="Montserrat-Light"/>
              </a:rPr>
              <a:t>euismod  </a:t>
            </a:r>
            <a:r>
              <a:rPr sz="1000" spc="5" dirty="0">
                <a:latin typeface="Montserrat-Light"/>
                <a:cs typeface="Montserrat-Light"/>
              </a:rPr>
              <a:t>tincidunt ut laoreet dolore mag-  na aliquam </a:t>
            </a:r>
            <a:r>
              <a:rPr sz="1000" dirty="0">
                <a:latin typeface="Montserrat-Light"/>
                <a:cs typeface="Montserrat-Light"/>
              </a:rPr>
              <a:t>erat</a:t>
            </a:r>
            <a:r>
              <a:rPr sz="1000" spc="40" dirty="0">
                <a:latin typeface="Montserrat-Light"/>
                <a:cs typeface="Montserrat-Light"/>
              </a:rPr>
              <a:t> </a:t>
            </a:r>
            <a:r>
              <a:rPr sz="1000" spc="5" dirty="0">
                <a:latin typeface="Montserrat-Light"/>
                <a:cs typeface="Montserrat-Light"/>
              </a:rPr>
              <a:t>volutpat.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6784" y="5403637"/>
            <a:ext cx="724979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83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FFFFFF"/>
                </a:solidFill>
                <a:latin typeface="Kiona"/>
                <a:cs typeface="Kiona"/>
              </a:rPr>
              <a:t>“TODOS </a:t>
            </a:r>
            <a:r>
              <a:rPr sz="1650" b="1" spc="5" dirty="0">
                <a:solidFill>
                  <a:srgbClr val="FFFFFF"/>
                </a:solidFill>
                <a:latin typeface="Kiona"/>
                <a:cs typeface="Kiona"/>
              </a:rPr>
              <a:t>HABLAN DE </a:t>
            </a:r>
            <a:r>
              <a:rPr sz="1650" b="1" dirty="0">
                <a:solidFill>
                  <a:srgbClr val="FFFFFF"/>
                </a:solidFill>
                <a:latin typeface="Kiona"/>
                <a:cs typeface="Kiona"/>
              </a:rPr>
              <a:t>LA TRANSFORMACIón </a:t>
            </a:r>
            <a:r>
              <a:rPr sz="1650" b="1" spc="-15" dirty="0">
                <a:solidFill>
                  <a:srgbClr val="FFFFFF"/>
                </a:solidFill>
                <a:latin typeface="Kiona"/>
                <a:cs typeface="Kiona"/>
              </a:rPr>
              <a:t>digital </a:t>
            </a:r>
            <a:r>
              <a:rPr sz="1650" b="1" spc="10" dirty="0">
                <a:solidFill>
                  <a:srgbClr val="FFFFFF"/>
                </a:solidFill>
                <a:latin typeface="Kiona"/>
                <a:cs typeface="Kiona"/>
              </a:rPr>
              <a:t>como </a:t>
            </a:r>
            <a:r>
              <a:rPr sz="1650" b="1" dirty="0">
                <a:solidFill>
                  <a:srgbClr val="FFFFFF"/>
                </a:solidFill>
                <a:latin typeface="Kiona"/>
                <a:cs typeface="Kiona"/>
              </a:rPr>
              <a:t>una </a:t>
            </a:r>
            <a:r>
              <a:rPr sz="1650" b="1" spc="5" dirty="0">
                <a:solidFill>
                  <a:srgbClr val="FFFFFF"/>
                </a:solidFill>
                <a:latin typeface="Kiona"/>
                <a:cs typeface="Kiona"/>
              </a:rPr>
              <a:t>de </a:t>
            </a:r>
            <a:r>
              <a:rPr sz="1650" b="1" spc="-5" dirty="0">
                <a:solidFill>
                  <a:srgbClr val="FFFFFF"/>
                </a:solidFill>
                <a:latin typeface="Kiona"/>
                <a:cs typeface="Kiona"/>
              </a:rPr>
              <a:t>las  </a:t>
            </a:r>
            <a:r>
              <a:rPr sz="1650" b="1" spc="5" dirty="0">
                <a:solidFill>
                  <a:srgbClr val="FFFFFF"/>
                </a:solidFill>
                <a:latin typeface="Kiona"/>
                <a:cs typeface="Kiona"/>
              </a:rPr>
              <a:t>exigencias </a:t>
            </a:r>
            <a:r>
              <a:rPr sz="1650" b="1" spc="-15" dirty="0">
                <a:solidFill>
                  <a:srgbClr val="FFFFFF"/>
                </a:solidFill>
                <a:latin typeface="Kiona"/>
                <a:cs typeface="Kiona"/>
              </a:rPr>
              <a:t>actuales </a:t>
            </a:r>
            <a:r>
              <a:rPr sz="1650" b="1" spc="-5" dirty="0">
                <a:solidFill>
                  <a:srgbClr val="FFFFFF"/>
                </a:solidFill>
                <a:latin typeface="Kiona"/>
                <a:cs typeface="Kiona"/>
              </a:rPr>
              <a:t>EN </a:t>
            </a:r>
            <a:r>
              <a:rPr sz="1650" b="1" dirty="0">
                <a:solidFill>
                  <a:srgbClr val="FFFFFF"/>
                </a:solidFill>
                <a:latin typeface="Kiona"/>
                <a:cs typeface="Kiona"/>
              </a:rPr>
              <a:t>TODOS </a:t>
            </a:r>
            <a:r>
              <a:rPr sz="1650" b="1" spc="-25" dirty="0">
                <a:solidFill>
                  <a:srgbClr val="FFFFFF"/>
                </a:solidFill>
                <a:latin typeface="Kiona"/>
                <a:cs typeface="Kiona"/>
              </a:rPr>
              <a:t>LOS </a:t>
            </a:r>
            <a:r>
              <a:rPr sz="1650" b="1" spc="5" dirty="0">
                <a:solidFill>
                  <a:srgbClr val="FFFFFF"/>
                </a:solidFill>
                <a:latin typeface="Kiona"/>
                <a:cs typeface="Kiona"/>
              </a:rPr>
              <a:t>CAMPOS, </a:t>
            </a:r>
            <a:r>
              <a:rPr sz="1650" b="1" spc="-5" dirty="0">
                <a:solidFill>
                  <a:srgbClr val="FFFFFF"/>
                </a:solidFill>
                <a:latin typeface="Kiona"/>
                <a:cs typeface="Kiona"/>
              </a:rPr>
              <a:t>pero </a:t>
            </a:r>
            <a:r>
              <a:rPr sz="1650" b="1" spc="-20" dirty="0">
                <a:solidFill>
                  <a:srgbClr val="FFFFFF"/>
                </a:solidFill>
                <a:latin typeface="Kiona"/>
                <a:cs typeface="Kiona"/>
              </a:rPr>
              <a:t>es</a:t>
            </a:r>
            <a:r>
              <a:rPr sz="1650" b="1" spc="130" dirty="0">
                <a:solidFill>
                  <a:srgbClr val="FFFFFF"/>
                </a:solidFill>
                <a:latin typeface="Kiona"/>
                <a:cs typeface="Kion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Kiona"/>
                <a:cs typeface="Kiona"/>
              </a:rPr>
              <a:t>importante</a:t>
            </a:r>
            <a:endParaRPr sz="1650">
              <a:latin typeface="Kiona"/>
              <a:cs typeface="Kiona"/>
            </a:endParaRPr>
          </a:p>
          <a:p>
            <a:pPr marL="2467610">
              <a:lnSpc>
                <a:spcPct val="100000"/>
              </a:lnSpc>
            </a:pPr>
            <a:r>
              <a:rPr sz="1650" b="1" spc="-5" dirty="0">
                <a:solidFill>
                  <a:srgbClr val="FFFFFF"/>
                </a:solidFill>
                <a:latin typeface="Kiona"/>
                <a:cs typeface="Kiona"/>
              </a:rPr>
              <a:t>tomar en </a:t>
            </a:r>
            <a:r>
              <a:rPr sz="1650" b="1" spc="-25" dirty="0">
                <a:solidFill>
                  <a:srgbClr val="FFFFFF"/>
                </a:solidFill>
                <a:latin typeface="Kiona"/>
                <a:cs typeface="Kiona"/>
              </a:rPr>
              <a:t>cuenta </a:t>
            </a:r>
            <a:r>
              <a:rPr sz="1650" b="1" spc="-5" dirty="0">
                <a:solidFill>
                  <a:srgbClr val="FFFFFF"/>
                </a:solidFill>
                <a:latin typeface="Kiona"/>
                <a:cs typeface="Kiona"/>
              </a:rPr>
              <a:t>el </a:t>
            </a:r>
            <a:r>
              <a:rPr sz="1650" b="1" spc="5" dirty="0">
                <a:solidFill>
                  <a:srgbClr val="FFFFFF"/>
                </a:solidFill>
                <a:latin typeface="Kiona"/>
                <a:cs typeface="Kiona"/>
              </a:rPr>
              <a:t>manejo de</a:t>
            </a:r>
            <a:r>
              <a:rPr sz="1650" b="1" spc="70" dirty="0">
                <a:solidFill>
                  <a:srgbClr val="FFFFFF"/>
                </a:solidFill>
                <a:latin typeface="Kiona"/>
                <a:cs typeface="Kiona"/>
              </a:rPr>
              <a:t> </a:t>
            </a:r>
            <a:r>
              <a:rPr sz="1650" b="1" dirty="0">
                <a:solidFill>
                  <a:srgbClr val="FFFFFF"/>
                </a:solidFill>
                <a:latin typeface="Kiona"/>
                <a:cs typeface="Kiona"/>
              </a:rPr>
              <a:t>procesos”</a:t>
            </a:r>
            <a:endParaRPr sz="1650">
              <a:latin typeface="Kiona"/>
              <a:cs typeface="Kio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72004" y="186487"/>
            <a:ext cx="4966970" cy="3845560"/>
            <a:chOff x="5472004" y="186487"/>
            <a:chExt cx="4966970" cy="3845560"/>
          </a:xfrm>
        </p:grpSpPr>
        <p:sp>
          <p:nvSpPr>
            <p:cNvPr id="16" name="object 16"/>
            <p:cNvSpPr/>
            <p:nvPr/>
          </p:nvSpPr>
          <p:spPr>
            <a:xfrm>
              <a:off x="6710146" y="186487"/>
              <a:ext cx="3728516" cy="103501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72004" y="1476004"/>
              <a:ext cx="4534801" cy="25560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31299" y="433933"/>
            <a:ext cx="25825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Quiénes</a:t>
            </a:r>
            <a:r>
              <a:rPr spc="-90" dirty="0"/>
              <a:t> </a:t>
            </a:r>
            <a:r>
              <a:rPr dirty="0"/>
              <a:t>somos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800080" cy="6840220"/>
          </a:xfrm>
          <a:custGeom>
            <a:avLst/>
            <a:gdLst/>
            <a:ahLst/>
            <a:cxnLst/>
            <a:rect l="l" t="t" r="r" b="b"/>
            <a:pathLst>
              <a:path w="10800080" h="6840220">
                <a:moveTo>
                  <a:pt x="10800003" y="0"/>
                </a:moveTo>
                <a:lnTo>
                  <a:pt x="0" y="0"/>
                </a:lnTo>
                <a:lnTo>
                  <a:pt x="0" y="6839991"/>
                </a:lnTo>
                <a:lnTo>
                  <a:pt x="10800003" y="6839991"/>
                </a:lnTo>
                <a:lnTo>
                  <a:pt x="10800003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"/>
            <a:ext cx="10800080" cy="6840220"/>
            <a:chOff x="0" y="6"/>
            <a:chExt cx="10800080" cy="6840220"/>
          </a:xfrm>
        </p:grpSpPr>
        <p:sp>
          <p:nvSpPr>
            <p:cNvPr id="4" name="object 4"/>
            <p:cNvSpPr/>
            <p:nvPr/>
          </p:nvSpPr>
          <p:spPr>
            <a:xfrm>
              <a:off x="0" y="432003"/>
              <a:ext cx="10800003" cy="640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5343" y="3823284"/>
              <a:ext cx="9243060" cy="2559685"/>
            </a:xfrm>
            <a:custGeom>
              <a:avLst/>
              <a:gdLst/>
              <a:ahLst/>
              <a:cxnLst/>
              <a:rect l="l" t="t" r="r" b="b"/>
              <a:pathLst>
                <a:path w="9243060" h="2559685">
                  <a:moveTo>
                    <a:pt x="2094966" y="0"/>
                  </a:moveTo>
                  <a:lnTo>
                    <a:pt x="0" y="0"/>
                  </a:lnTo>
                  <a:lnTo>
                    <a:pt x="0" y="2559520"/>
                  </a:lnTo>
                  <a:lnTo>
                    <a:pt x="2094966" y="2559520"/>
                  </a:lnTo>
                  <a:lnTo>
                    <a:pt x="2094966" y="0"/>
                  </a:lnTo>
                  <a:close/>
                </a:path>
                <a:path w="9243060" h="2559685">
                  <a:moveTo>
                    <a:pt x="4433138" y="0"/>
                  </a:moveTo>
                  <a:lnTo>
                    <a:pt x="2314625" y="0"/>
                  </a:lnTo>
                  <a:lnTo>
                    <a:pt x="2314625" y="2559520"/>
                  </a:lnTo>
                  <a:lnTo>
                    <a:pt x="4433138" y="2559520"/>
                  </a:lnTo>
                  <a:lnTo>
                    <a:pt x="4433138" y="0"/>
                  </a:lnTo>
                  <a:close/>
                </a:path>
                <a:path w="9243060" h="2559685">
                  <a:moveTo>
                    <a:pt x="6806920" y="0"/>
                  </a:moveTo>
                  <a:lnTo>
                    <a:pt x="4688408" y="0"/>
                  </a:lnTo>
                  <a:lnTo>
                    <a:pt x="4688408" y="2559520"/>
                  </a:lnTo>
                  <a:lnTo>
                    <a:pt x="6806920" y="2559520"/>
                  </a:lnTo>
                  <a:lnTo>
                    <a:pt x="6806920" y="0"/>
                  </a:lnTo>
                  <a:close/>
                </a:path>
                <a:path w="9243060" h="2559685">
                  <a:moveTo>
                    <a:pt x="9242920" y="0"/>
                  </a:moveTo>
                  <a:lnTo>
                    <a:pt x="7124420" y="0"/>
                  </a:lnTo>
                  <a:lnTo>
                    <a:pt x="7124420" y="2559520"/>
                  </a:lnTo>
                  <a:lnTo>
                    <a:pt x="9242920" y="2559520"/>
                  </a:lnTo>
                  <a:lnTo>
                    <a:pt x="9242920" y="0"/>
                  </a:lnTo>
                  <a:close/>
                </a:path>
              </a:pathLst>
            </a:custGeom>
            <a:solidFill>
              <a:srgbClr val="9C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30968" y="1188010"/>
              <a:ext cx="6069330" cy="1162050"/>
            </a:xfrm>
            <a:custGeom>
              <a:avLst/>
              <a:gdLst/>
              <a:ahLst/>
              <a:cxnLst/>
              <a:rect l="l" t="t" r="r" b="b"/>
              <a:pathLst>
                <a:path w="6069330" h="1162050">
                  <a:moveTo>
                    <a:pt x="6069037" y="0"/>
                  </a:moveTo>
                  <a:lnTo>
                    <a:pt x="0" y="553402"/>
                  </a:lnTo>
                  <a:lnTo>
                    <a:pt x="6069037" y="1162024"/>
                  </a:lnTo>
                  <a:lnTo>
                    <a:pt x="6069037" y="0"/>
                  </a:lnTo>
                  <a:close/>
                </a:path>
              </a:pathLst>
            </a:custGeom>
            <a:solidFill>
              <a:srgbClr val="4479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"/>
              <a:ext cx="10800080" cy="2142490"/>
            </a:xfrm>
            <a:custGeom>
              <a:avLst/>
              <a:gdLst/>
              <a:ahLst/>
              <a:cxnLst/>
              <a:rect l="l" t="t" r="r" b="b"/>
              <a:pathLst>
                <a:path w="10800080" h="2142490">
                  <a:moveTo>
                    <a:pt x="10800003" y="0"/>
                  </a:moveTo>
                  <a:lnTo>
                    <a:pt x="0" y="0"/>
                  </a:lnTo>
                  <a:lnTo>
                    <a:pt x="0" y="2141994"/>
                  </a:lnTo>
                  <a:lnTo>
                    <a:pt x="10800003" y="1306118"/>
                  </a:lnTo>
                  <a:lnTo>
                    <a:pt x="10800003" y="0"/>
                  </a:lnTo>
                  <a:close/>
                </a:path>
              </a:pathLst>
            </a:custGeom>
            <a:solidFill>
              <a:srgbClr val="1C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4045" y="2735001"/>
            <a:ext cx="2118995" cy="9683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Redes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latin typeface="Montserrat-Light"/>
                <a:cs typeface="Montserrat-Light"/>
              </a:rPr>
              <a:t>Lorem ipsum 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adipiscing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elit,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sed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5003" y="2732800"/>
            <a:ext cx="2118995" cy="9715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0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Desarrollo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Lorem ipsum 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adipiscing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elit,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sed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8776" y="2732800"/>
            <a:ext cx="2118995" cy="9715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 algn="just">
              <a:lnSpc>
                <a:spcPct val="100000"/>
              </a:lnSpc>
              <a:spcBef>
                <a:spcPts val="1100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Data</a:t>
            </a:r>
            <a:r>
              <a:rPr sz="1950" b="1" spc="-10" dirty="0">
                <a:solidFill>
                  <a:srgbClr val="F79423"/>
                </a:solidFill>
                <a:latin typeface="Montserrat"/>
                <a:cs typeface="Montserrat"/>
              </a:rPr>
              <a:t> </a:t>
            </a:r>
            <a:r>
              <a:rPr sz="1950" b="1" dirty="0">
                <a:solidFill>
                  <a:srgbClr val="F79423"/>
                </a:solidFill>
                <a:latin typeface="Montserrat"/>
                <a:cs typeface="Montserrat"/>
              </a:rPr>
              <a:t>Driven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Lorem ipsum 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adipiscing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elit,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sed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94776" y="2732800"/>
            <a:ext cx="2118995" cy="9715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0"/>
              </a:spcBef>
            </a:pPr>
            <a:r>
              <a:rPr sz="1950" b="1" dirty="0">
                <a:solidFill>
                  <a:srgbClr val="F79423"/>
                </a:solidFill>
                <a:latin typeface="Montserrat"/>
                <a:cs typeface="Montserrat"/>
              </a:rPr>
              <a:t>Integración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Lorem ipsum 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adipiscing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elit,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sed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343" y="2471775"/>
            <a:ext cx="1290955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984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35"/>
              </a:spcBef>
            </a:pP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2010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4005" y="2471775"/>
            <a:ext cx="1290955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984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35"/>
              </a:spcBef>
            </a:pP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2012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9346" y="2471775"/>
            <a:ext cx="1290955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984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35"/>
              </a:spcBef>
            </a:pP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2015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01343" y="2471775"/>
            <a:ext cx="1290955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984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35"/>
              </a:spcBef>
            </a:pP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2020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07994" y="133199"/>
            <a:ext cx="1037463" cy="1111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31299" y="433933"/>
            <a:ext cx="62769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</a:rPr>
              <a:t>Nuestra </a:t>
            </a:r>
            <a:r>
              <a:rPr spc="-5" dirty="0">
                <a:solidFill>
                  <a:srgbClr val="FFFFFF"/>
                </a:solidFill>
              </a:rPr>
              <a:t>historia </a:t>
            </a:r>
            <a:r>
              <a:rPr dirty="0">
                <a:solidFill>
                  <a:srgbClr val="FFFFFF"/>
                </a:solidFill>
              </a:rPr>
              <a:t>a </a:t>
            </a:r>
            <a:r>
              <a:rPr spc="-20" dirty="0">
                <a:solidFill>
                  <a:srgbClr val="FFFFFF"/>
                </a:solidFill>
              </a:rPr>
              <a:t>través </a:t>
            </a:r>
            <a:r>
              <a:rPr dirty="0">
                <a:solidFill>
                  <a:srgbClr val="FFFFFF"/>
                </a:solidFill>
              </a:rPr>
              <a:t>del</a:t>
            </a:r>
            <a:r>
              <a:rPr spc="20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contexto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4500" y="986263"/>
            <a:ext cx="4596765" cy="76327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600" b="1" spc="-25" dirty="0">
                <a:solidFill>
                  <a:srgbClr val="F7941D"/>
                </a:solidFill>
                <a:latin typeface="Kiona"/>
                <a:cs typeface="Kiona"/>
              </a:rPr>
              <a:t>desarrollo</a:t>
            </a:r>
            <a:r>
              <a:rPr sz="2600" b="1" dirty="0">
                <a:solidFill>
                  <a:srgbClr val="F7941D"/>
                </a:solidFill>
                <a:latin typeface="Kiona"/>
                <a:cs typeface="Kiona"/>
              </a:rPr>
              <a:t> </a:t>
            </a:r>
            <a:r>
              <a:rPr sz="2600" spc="5" dirty="0">
                <a:solidFill>
                  <a:srgbClr val="F7941D"/>
                </a:solidFill>
                <a:latin typeface="Kiona"/>
                <a:cs typeface="Kiona"/>
              </a:rPr>
              <a:t>tecnolÓGICO</a:t>
            </a:r>
            <a:endParaRPr sz="2600">
              <a:latin typeface="Kiona"/>
              <a:cs typeface="Kiona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650" b="1" spc="-25" dirty="0">
                <a:solidFill>
                  <a:srgbClr val="FFFFFF"/>
                </a:solidFill>
                <a:latin typeface="Kiona"/>
                <a:cs typeface="Kiona"/>
              </a:rPr>
              <a:t>LOS </a:t>
            </a:r>
            <a:r>
              <a:rPr sz="1650" b="1" spc="-15" dirty="0">
                <a:solidFill>
                  <a:srgbClr val="FFFFFF"/>
                </a:solidFill>
                <a:latin typeface="Kiona"/>
                <a:cs typeface="Kiona"/>
              </a:rPr>
              <a:t>últimos </a:t>
            </a:r>
            <a:r>
              <a:rPr sz="1650" b="1" dirty="0">
                <a:solidFill>
                  <a:srgbClr val="FFFFFF"/>
                </a:solidFill>
                <a:latin typeface="Kiona"/>
                <a:cs typeface="Kiona"/>
              </a:rPr>
              <a:t>10</a:t>
            </a:r>
            <a:r>
              <a:rPr sz="1650" b="1" spc="80" dirty="0">
                <a:solidFill>
                  <a:srgbClr val="FFFFFF"/>
                </a:solidFill>
                <a:latin typeface="Kiona"/>
                <a:cs typeface="Kiona"/>
              </a:rPr>
              <a:t> </a:t>
            </a:r>
            <a:r>
              <a:rPr sz="1650" b="1" spc="10" dirty="0">
                <a:solidFill>
                  <a:srgbClr val="FFFFFF"/>
                </a:solidFill>
                <a:latin typeface="Kiona"/>
                <a:cs typeface="Kiona"/>
              </a:rPr>
              <a:t>años</a:t>
            </a:r>
            <a:endParaRPr sz="1650">
              <a:latin typeface="Kiona"/>
              <a:cs typeface="Kio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806002"/>
            <a:ext cx="10800080" cy="2034539"/>
            <a:chOff x="0" y="4806002"/>
            <a:chExt cx="10800080" cy="2034539"/>
          </a:xfrm>
        </p:grpSpPr>
        <p:sp>
          <p:nvSpPr>
            <p:cNvPr id="3" name="object 3"/>
            <p:cNvSpPr/>
            <p:nvPr/>
          </p:nvSpPr>
          <p:spPr>
            <a:xfrm>
              <a:off x="0" y="4806002"/>
              <a:ext cx="10800080" cy="2034539"/>
            </a:xfrm>
            <a:custGeom>
              <a:avLst/>
              <a:gdLst/>
              <a:ahLst/>
              <a:cxnLst/>
              <a:rect l="l" t="t" r="r" b="b"/>
              <a:pathLst>
                <a:path w="10800080" h="2034540">
                  <a:moveTo>
                    <a:pt x="10800003" y="0"/>
                  </a:moveTo>
                  <a:lnTo>
                    <a:pt x="0" y="818832"/>
                  </a:lnTo>
                  <a:lnTo>
                    <a:pt x="0" y="2034006"/>
                  </a:lnTo>
                  <a:lnTo>
                    <a:pt x="10800003" y="2034006"/>
                  </a:lnTo>
                  <a:lnTo>
                    <a:pt x="10800003" y="0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91254"/>
              <a:ext cx="3794760" cy="538480"/>
            </a:xfrm>
            <a:custGeom>
              <a:avLst/>
              <a:gdLst/>
              <a:ahLst/>
              <a:cxnLst/>
              <a:rect l="l" t="t" r="r" b="b"/>
              <a:pathLst>
                <a:path w="3794760" h="538479">
                  <a:moveTo>
                    <a:pt x="0" y="0"/>
                  </a:moveTo>
                  <a:lnTo>
                    <a:pt x="0" y="538289"/>
                  </a:lnTo>
                  <a:lnTo>
                    <a:pt x="3794137" y="2489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79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340233"/>
              <a:ext cx="10800080" cy="1499870"/>
            </a:xfrm>
            <a:custGeom>
              <a:avLst/>
              <a:gdLst/>
              <a:ahLst/>
              <a:cxnLst/>
              <a:rect l="l" t="t" r="r" b="b"/>
              <a:pathLst>
                <a:path w="10800080" h="1499870">
                  <a:moveTo>
                    <a:pt x="3794137" y="0"/>
                  </a:moveTo>
                  <a:lnTo>
                    <a:pt x="0" y="287070"/>
                  </a:lnTo>
                  <a:lnTo>
                    <a:pt x="0" y="1499768"/>
                  </a:lnTo>
                  <a:lnTo>
                    <a:pt x="10800003" y="1499768"/>
                  </a:lnTo>
                  <a:lnTo>
                    <a:pt x="10800003" y="456171"/>
                  </a:lnTo>
                  <a:lnTo>
                    <a:pt x="3794137" y="0"/>
                  </a:lnTo>
                  <a:close/>
                </a:path>
              </a:pathLst>
            </a:custGeom>
            <a:solidFill>
              <a:srgbClr val="1C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36001" y="6168009"/>
            <a:ext cx="2281555" cy="262255"/>
          </a:xfrm>
          <a:prstGeom prst="rect">
            <a:avLst/>
          </a:prstGeom>
          <a:solidFill>
            <a:srgbClr val="4C79BC"/>
          </a:solidFill>
        </p:spPr>
        <p:txBody>
          <a:bodyPr vert="horz" wrap="square" lIns="0" tIns="4000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315"/>
              </a:spcBef>
            </a:pPr>
            <a:r>
              <a:rPr sz="1100" spc="20" dirty="0">
                <a:solidFill>
                  <a:srgbClr val="FFFFFF"/>
                </a:solidFill>
                <a:latin typeface="DIN-Medium"/>
                <a:cs typeface="DIN-Medium"/>
              </a:rPr>
              <a:t>&gt;</a:t>
            </a:r>
            <a:r>
              <a:rPr sz="1100" spc="250" dirty="0">
                <a:solidFill>
                  <a:srgbClr val="FFFFFF"/>
                </a:solidFill>
                <a:latin typeface="DIN-Medium"/>
                <a:cs typeface="DIN-Medium"/>
              </a:rPr>
              <a:t> </a:t>
            </a:r>
            <a:r>
              <a:rPr sz="1100" b="1" spc="20" dirty="0">
                <a:solidFill>
                  <a:srgbClr val="FFFFFF"/>
                </a:solidFill>
                <a:latin typeface="Montserrat"/>
                <a:cs typeface="Montserrat"/>
                <a:hlinkClick r:id="rId2"/>
              </a:rPr>
              <a:t>WWW.DIREKTOR.PE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4817" y="2459774"/>
            <a:ext cx="2897505" cy="1548130"/>
          </a:xfrm>
          <a:custGeom>
            <a:avLst/>
            <a:gdLst/>
            <a:ahLst/>
            <a:cxnLst/>
            <a:rect l="l" t="t" r="r" b="b"/>
            <a:pathLst>
              <a:path w="2897504" h="1548129">
                <a:moveTo>
                  <a:pt x="2897187" y="15405"/>
                </a:moveTo>
                <a:lnTo>
                  <a:pt x="2878925" y="15405"/>
                </a:lnTo>
                <a:lnTo>
                  <a:pt x="2878925" y="1532763"/>
                </a:lnTo>
                <a:lnTo>
                  <a:pt x="2897187" y="1532763"/>
                </a:lnTo>
                <a:lnTo>
                  <a:pt x="2897187" y="15405"/>
                </a:lnTo>
                <a:close/>
              </a:path>
              <a:path w="2897504" h="1548129">
                <a:moveTo>
                  <a:pt x="2897187" y="0"/>
                </a:moveTo>
                <a:lnTo>
                  <a:pt x="0" y="0"/>
                </a:lnTo>
                <a:lnTo>
                  <a:pt x="0" y="15240"/>
                </a:lnTo>
                <a:lnTo>
                  <a:pt x="0" y="1532890"/>
                </a:lnTo>
                <a:lnTo>
                  <a:pt x="0" y="1548130"/>
                </a:lnTo>
                <a:lnTo>
                  <a:pt x="2897187" y="1548130"/>
                </a:lnTo>
                <a:lnTo>
                  <a:pt x="2897187" y="1532890"/>
                </a:lnTo>
                <a:lnTo>
                  <a:pt x="18249" y="1532890"/>
                </a:lnTo>
                <a:lnTo>
                  <a:pt x="18249" y="15240"/>
                </a:lnTo>
                <a:lnTo>
                  <a:pt x="2897187" y="15240"/>
                </a:lnTo>
                <a:lnTo>
                  <a:pt x="2897187" y="0"/>
                </a:lnTo>
                <a:close/>
              </a:path>
            </a:pathLst>
          </a:custGeom>
          <a:solidFill>
            <a:srgbClr val="4C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33615" y="2459774"/>
            <a:ext cx="2897505" cy="1548130"/>
          </a:xfrm>
          <a:custGeom>
            <a:avLst/>
            <a:gdLst/>
            <a:ahLst/>
            <a:cxnLst/>
            <a:rect l="l" t="t" r="r" b="b"/>
            <a:pathLst>
              <a:path w="2897504" h="1548129">
                <a:moveTo>
                  <a:pt x="2897187" y="15405"/>
                </a:moveTo>
                <a:lnTo>
                  <a:pt x="2878925" y="15405"/>
                </a:lnTo>
                <a:lnTo>
                  <a:pt x="2878925" y="1532763"/>
                </a:lnTo>
                <a:lnTo>
                  <a:pt x="2897187" y="1532763"/>
                </a:lnTo>
                <a:lnTo>
                  <a:pt x="2897187" y="15405"/>
                </a:lnTo>
                <a:close/>
              </a:path>
              <a:path w="2897504" h="1548129">
                <a:moveTo>
                  <a:pt x="2897187" y="0"/>
                </a:moveTo>
                <a:lnTo>
                  <a:pt x="0" y="0"/>
                </a:lnTo>
                <a:lnTo>
                  <a:pt x="0" y="15240"/>
                </a:lnTo>
                <a:lnTo>
                  <a:pt x="0" y="1532890"/>
                </a:lnTo>
                <a:lnTo>
                  <a:pt x="0" y="1548130"/>
                </a:lnTo>
                <a:lnTo>
                  <a:pt x="2897187" y="1548130"/>
                </a:lnTo>
                <a:lnTo>
                  <a:pt x="2897187" y="1532890"/>
                </a:lnTo>
                <a:lnTo>
                  <a:pt x="18249" y="1532890"/>
                </a:lnTo>
                <a:lnTo>
                  <a:pt x="18249" y="15240"/>
                </a:lnTo>
                <a:lnTo>
                  <a:pt x="2897187" y="15240"/>
                </a:lnTo>
                <a:lnTo>
                  <a:pt x="2897187" y="0"/>
                </a:lnTo>
                <a:close/>
              </a:path>
            </a:pathLst>
          </a:custGeom>
          <a:solidFill>
            <a:srgbClr val="4C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8716" y="2711130"/>
            <a:ext cx="23304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Lorem ipsum dolor sit amet,  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consectetuer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adipi scing</a:t>
            </a:r>
            <a:r>
              <a:rPr sz="1300" spc="-85" dirty="0">
                <a:solidFill>
                  <a:srgbClr val="F49123"/>
                </a:solidFill>
                <a:latin typeface="Montserrat-Light"/>
                <a:cs typeface="Montserrat-Light"/>
              </a:rPr>
              <a:t>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elit,  sed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diam</a:t>
            </a:r>
            <a:endParaRPr sz="1300">
              <a:latin typeface="Montserrat-Light"/>
              <a:cs typeface="Montserrat-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7515" y="2711130"/>
            <a:ext cx="23304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Lorem ipsum dolor sit amet,  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consectetuer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adipi scing</a:t>
            </a:r>
            <a:r>
              <a:rPr sz="1300" spc="-85" dirty="0">
                <a:solidFill>
                  <a:srgbClr val="F49123"/>
                </a:solidFill>
                <a:latin typeface="Montserrat-Light"/>
                <a:cs typeface="Montserrat-Light"/>
              </a:rPr>
              <a:t>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elit,  sed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diam</a:t>
            </a:r>
            <a:endParaRPr sz="1300">
              <a:latin typeface="Montserrat-Light"/>
              <a:cs typeface="Montserrat-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2060190"/>
            <a:ext cx="434975" cy="1042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50" b="1" spc="5" dirty="0">
                <a:solidFill>
                  <a:srgbClr val="F49123"/>
                </a:solidFill>
                <a:latin typeface="Montserrat-Black"/>
                <a:cs typeface="Montserrat-Black"/>
              </a:rPr>
              <a:t>“</a:t>
            </a:r>
            <a:endParaRPr sz="6650">
              <a:latin typeface="Montserrat-Black"/>
              <a:cs typeface="Montserrat-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04602" y="2459774"/>
            <a:ext cx="2897505" cy="1548130"/>
          </a:xfrm>
          <a:custGeom>
            <a:avLst/>
            <a:gdLst/>
            <a:ahLst/>
            <a:cxnLst/>
            <a:rect l="l" t="t" r="r" b="b"/>
            <a:pathLst>
              <a:path w="2897504" h="1548129">
                <a:moveTo>
                  <a:pt x="2897200" y="15405"/>
                </a:moveTo>
                <a:lnTo>
                  <a:pt x="2878937" y="15405"/>
                </a:lnTo>
                <a:lnTo>
                  <a:pt x="2878937" y="1532763"/>
                </a:lnTo>
                <a:lnTo>
                  <a:pt x="2897200" y="1532763"/>
                </a:lnTo>
                <a:lnTo>
                  <a:pt x="2897200" y="15405"/>
                </a:lnTo>
                <a:close/>
              </a:path>
              <a:path w="2897504" h="1548129">
                <a:moveTo>
                  <a:pt x="2897200" y="0"/>
                </a:moveTo>
                <a:lnTo>
                  <a:pt x="0" y="0"/>
                </a:lnTo>
                <a:lnTo>
                  <a:pt x="0" y="15240"/>
                </a:lnTo>
                <a:lnTo>
                  <a:pt x="0" y="1532890"/>
                </a:lnTo>
                <a:lnTo>
                  <a:pt x="0" y="1548130"/>
                </a:lnTo>
                <a:lnTo>
                  <a:pt x="2897200" y="1548130"/>
                </a:lnTo>
                <a:lnTo>
                  <a:pt x="2897200" y="1532890"/>
                </a:lnTo>
                <a:lnTo>
                  <a:pt x="18262" y="1532890"/>
                </a:lnTo>
                <a:lnTo>
                  <a:pt x="18262" y="15240"/>
                </a:lnTo>
                <a:lnTo>
                  <a:pt x="2897200" y="15240"/>
                </a:lnTo>
                <a:lnTo>
                  <a:pt x="2897200" y="0"/>
                </a:lnTo>
                <a:close/>
              </a:path>
            </a:pathLst>
          </a:custGeom>
          <a:solidFill>
            <a:srgbClr val="4C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18517" y="2711130"/>
            <a:ext cx="23304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Lorem ipsum dolor sit amet,  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consectetuer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adipi scing</a:t>
            </a:r>
            <a:r>
              <a:rPr sz="1300" spc="-85" dirty="0">
                <a:solidFill>
                  <a:srgbClr val="F49123"/>
                </a:solidFill>
                <a:latin typeface="Montserrat-Light"/>
                <a:cs typeface="Montserrat-Light"/>
              </a:rPr>
              <a:t>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elit,  sed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diam</a:t>
            </a:r>
            <a:endParaRPr sz="1300">
              <a:latin typeface="Montserrat-Light"/>
              <a:cs typeface="Montserrat-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4300" y="2060190"/>
            <a:ext cx="434975" cy="1042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50" b="1" spc="5" dirty="0">
                <a:solidFill>
                  <a:srgbClr val="F49123"/>
                </a:solidFill>
                <a:latin typeface="Montserrat-Black"/>
                <a:cs typeface="Montserrat-Black"/>
              </a:rPr>
              <a:t>“</a:t>
            </a:r>
            <a:endParaRPr sz="6650">
              <a:latin typeface="Montserrat-Black"/>
              <a:cs typeface="Montserrat-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83300" y="2060190"/>
            <a:ext cx="434975" cy="1042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50" b="1" spc="5" dirty="0">
                <a:solidFill>
                  <a:srgbClr val="F49123"/>
                </a:solidFill>
                <a:latin typeface="Montserrat-Black"/>
                <a:cs typeface="Montserrat-Black"/>
              </a:rPr>
              <a:t>“</a:t>
            </a:r>
            <a:endParaRPr sz="6650">
              <a:latin typeface="Montserrat-Black"/>
              <a:cs typeface="Montserrat-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299" y="433933"/>
            <a:ext cx="27539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1C3C6E"/>
                </a:solidFill>
                <a:latin typeface="Montserrat"/>
                <a:cs typeface="Montserrat"/>
              </a:rPr>
              <a:t>Nuestros</a:t>
            </a:r>
            <a:r>
              <a:rPr sz="2600" b="1" spc="-90" dirty="0">
                <a:solidFill>
                  <a:srgbClr val="1C3C6E"/>
                </a:solidFill>
                <a:latin typeface="Montserrat"/>
                <a:cs typeface="Montserrat"/>
              </a:rPr>
              <a:t> </a:t>
            </a:r>
            <a:r>
              <a:rPr sz="2600" b="1" dirty="0">
                <a:solidFill>
                  <a:srgbClr val="1C3C6E"/>
                </a:solidFill>
                <a:latin typeface="Montserrat"/>
                <a:cs typeface="Montserrat"/>
              </a:rPr>
              <a:t>Pilares</a:t>
            </a:r>
            <a:endParaRPr sz="2600">
              <a:latin typeface="Montserrat"/>
              <a:cs typeface="Montserra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07994" y="133199"/>
            <a:ext cx="1037463" cy="1111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499299" y="1843404"/>
            <a:ext cx="1963420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5" dirty="0">
                <a:solidFill>
                  <a:srgbClr val="F7941D"/>
                </a:solidFill>
                <a:latin typeface="Kiona"/>
                <a:cs typeface="Kiona"/>
              </a:rPr>
              <a:t>ESTRATEGIA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888046" y="1843404"/>
            <a:ext cx="2030730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35" dirty="0">
                <a:solidFill>
                  <a:srgbClr val="F7941D"/>
                </a:solidFill>
                <a:latin typeface="Kiona-SemiBold"/>
                <a:cs typeface="Kiona-SemiBold"/>
              </a:rPr>
              <a:t>INN</a:t>
            </a:r>
            <a:r>
              <a:rPr sz="2600" b="1" spc="-80" dirty="0">
                <a:solidFill>
                  <a:srgbClr val="F7941D"/>
                </a:solidFill>
                <a:latin typeface="Kiona-SemiBold"/>
                <a:cs typeface="Kiona-SemiBold"/>
              </a:rPr>
              <a:t>O</a:t>
            </a:r>
            <a:r>
              <a:rPr sz="2600" b="1" spc="-275" dirty="0">
                <a:solidFill>
                  <a:srgbClr val="F7941D"/>
                </a:solidFill>
                <a:latin typeface="Kiona-SemiBold"/>
                <a:cs typeface="Kiona-SemiBold"/>
              </a:rPr>
              <a:t>V</a:t>
            </a:r>
            <a:r>
              <a:rPr sz="2600" b="1" spc="-55" dirty="0">
                <a:solidFill>
                  <a:srgbClr val="F7941D"/>
                </a:solidFill>
                <a:latin typeface="Kiona-SemiBold"/>
                <a:cs typeface="Kiona-SemiBold"/>
              </a:rPr>
              <a:t>A</a:t>
            </a:r>
            <a:r>
              <a:rPr sz="2600" b="1" spc="20" dirty="0">
                <a:solidFill>
                  <a:srgbClr val="F7941D"/>
                </a:solidFill>
                <a:latin typeface="Kiona-SemiBold"/>
                <a:cs typeface="Kiona-SemiBold"/>
              </a:rPr>
              <a:t>C</a:t>
            </a:r>
            <a:r>
              <a:rPr sz="2600" b="1" spc="30" dirty="0">
                <a:solidFill>
                  <a:srgbClr val="F7941D"/>
                </a:solidFill>
                <a:latin typeface="Kiona-SemiBold"/>
                <a:cs typeface="Kiona-SemiBold"/>
              </a:rPr>
              <a:t>I</a:t>
            </a:r>
            <a:r>
              <a:rPr sz="2600" b="1" spc="25" dirty="0">
                <a:solidFill>
                  <a:srgbClr val="F7941D"/>
                </a:solidFill>
                <a:latin typeface="Kiona-SemiBold"/>
                <a:cs typeface="Kiona-SemiBold"/>
              </a:rPr>
              <a:t>Ó</a:t>
            </a:r>
            <a:r>
              <a:rPr sz="2600" b="1" spc="10" dirty="0">
                <a:solidFill>
                  <a:srgbClr val="F7941D"/>
                </a:solidFill>
                <a:latin typeface="Kiona-SemiBold"/>
                <a:cs typeface="Kiona-SemiBold"/>
              </a:rPr>
              <a:t>N</a:t>
            </a:r>
            <a:endParaRPr sz="2600">
              <a:latin typeface="Kiona-SemiBold"/>
              <a:cs typeface="Kiona-SemiBol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49147" y="1843404"/>
            <a:ext cx="2006600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10" dirty="0">
                <a:solidFill>
                  <a:srgbClr val="F7941D"/>
                </a:solidFill>
                <a:latin typeface="Kiona"/>
                <a:cs typeface="Kiona"/>
              </a:rPr>
              <a:t>E</a:t>
            </a:r>
            <a:r>
              <a:rPr sz="2600" spc="-150" dirty="0">
                <a:solidFill>
                  <a:srgbClr val="F7941D"/>
                </a:solidFill>
                <a:latin typeface="Kiona"/>
                <a:cs typeface="Kiona"/>
              </a:rPr>
              <a:t>X</a:t>
            </a:r>
            <a:r>
              <a:rPr sz="2600" spc="25" dirty="0">
                <a:solidFill>
                  <a:srgbClr val="F7941D"/>
                </a:solidFill>
                <a:latin typeface="Kiona"/>
                <a:cs typeface="Kiona"/>
              </a:rPr>
              <a:t>C</a:t>
            </a:r>
            <a:r>
              <a:rPr sz="2600" spc="-20" dirty="0">
                <a:solidFill>
                  <a:srgbClr val="F7941D"/>
                </a:solidFill>
                <a:latin typeface="Kiona"/>
                <a:cs typeface="Kiona"/>
              </a:rPr>
              <a:t>E</a:t>
            </a:r>
            <a:r>
              <a:rPr sz="2600" spc="10" dirty="0">
                <a:solidFill>
                  <a:srgbClr val="F7941D"/>
                </a:solidFill>
                <a:latin typeface="Kiona"/>
                <a:cs typeface="Kiona"/>
              </a:rPr>
              <a:t>L</a:t>
            </a:r>
            <a:r>
              <a:rPr sz="2600" spc="-20" dirty="0">
                <a:solidFill>
                  <a:srgbClr val="F7941D"/>
                </a:solidFill>
                <a:latin typeface="Kiona"/>
                <a:cs typeface="Kiona"/>
              </a:rPr>
              <a:t>E</a:t>
            </a:r>
            <a:r>
              <a:rPr sz="2600" spc="35" dirty="0">
                <a:solidFill>
                  <a:srgbClr val="F7941D"/>
                </a:solidFill>
                <a:latin typeface="Kiona"/>
                <a:cs typeface="Kiona"/>
              </a:rPr>
              <a:t>N</a:t>
            </a:r>
            <a:r>
              <a:rPr sz="2600" spc="25" dirty="0">
                <a:solidFill>
                  <a:srgbClr val="F7941D"/>
                </a:solidFill>
                <a:latin typeface="Kiona"/>
                <a:cs typeface="Kiona"/>
              </a:rPr>
              <a:t>C</a:t>
            </a:r>
            <a:r>
              <a:rPr sz="2600" spc="10" dirty="0">
                <a:solidFill>
                  <a:srgbClr val="F7941D"/>
                </a:solidFill>
                <a:latin typeface="Kiona"/>
                <a:cs typeface="Kiona"/>
              </a:rPr>
              <a:t>IA</a:t>
            </a:r>
            <a:endParaRPr sz="2600">
              <a:latin typeface="Kiona"/>
              <a:cs typeface="Kio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800080" cy="6840220"/>
          </a:xfrm>
          <a:custGeom>
            <a:avLst/>
            <a:gdLst/>
            <a:ahLst/>
            <a:cxnLst/>
            <a:rect l="l" t="t" r="r" b="b"/>
            <a:pathLst>
              <a:path w="10800080" h="6840220">
                <a:moveTo>
                  <a:pt x="10800003" y="0"/>
                </a:moveTo>
                <a:lnTo>
                  <a:pt x="0" y="0"/>
                </a:lnTo>
                <a:lnTo>
                  <a:pt x="0" y="6839991"/>
                </a:lnTo>
                <a:lnTo>
                  <a:pt x="10800003" y="6839991"/>
                </a:lnTo>
                <a:lnTo>
                  <a:pt x="10800003" y="0"/>
                </a:lnTo>
                <a:close/>
              </a:path>
            </a:pathLst>
          </a:custGeom>
          <a:solidFill>
            <a:srgbClr val="4479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"/>
            <a:ext cx="9911080" cy="6840220"/>
            <a:chOff x="0" y="6"/>
            <a:chExt cx="9911080" cy="6840220"/>
          </a:xfrm>
        </p:grpSpPr>
        <p:sp>
          <p:nvSpPr>
            <p:cNvPr id="4" name="object 4"/>
            <p:cNvSpPr/>
            <p:nvPr/>
          </p:nvSpPr>
          <p:spPr>
            <a:xfrm>
              <a:off x="0" y="6"/>
              <a:ext cx="9530715" cy="4605020"/>
            </a:xfrm>
            <a:custGeom>
              <a:avLst/>
              <a:gdLst/>
              <a:ahLst/>
              <a:cxnLst/>
              <a:rect l="l" t="t" r="r" b="b"/>
              <a:pathLst>
                <a:path w="9530715" h="4605020">
                  <a:moveTo>
                    <a:pt x="9530461" y="0"/>
                  </a:moveTo>
                  <a:lnTo>
                    <a:pt x="0" y="0"/>
                  </a:lnTo>
                  <a:lnTo>
                    <a:pt x="0" y="4604727"/>
                  </a:lnTo>
                  <a:lnTo>
                    <a:pt x="9530461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925844"/>
              <a:ext cx="9869805" cy="2914650"/>
            </a:xfrm>
            <a:custGeom>
              <a:avLst/>
              <a:gdLst/>
              <a:ahLst/>
              <a:cxnLst/>
              <a:rect l="l" t="t" r="r" b="b"/>
              <a:pathLst>
                <a:path w="9869805" h="2914650">
                  <a:moveTo>
                    <a:pt x="1404302" y="0"/>
                  </a:moveTo>
                  <a:lnTo>
                    <a:pt x="0" y="676897"/>
                  </a:lnTo>
                  <a:lnTo>
                    <a:pt x="0" y="2914154"/>
                  </a:lnTo>
                  <a:lnTo>
                    <a:pt x="9869538" y="2914154"/>
                  </a:lnTo>
                  <a:lnTo>
                    <a:pt x="1404302" y="0"/>
                  </a:lnTo>
                  <a:close/>
                </a:path>
              </a:pathLst>
            </a:custGeom>
            <a:solidFill>
              <a:srgbClr val="1C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440991"/>
              <a:ext cx="1404620" cy="1163955"/>
            </a:xfrm>
            <a:custGeom>
              <a:avLst/>
              <a:gdLst/>
              <a:ahLst/>
              <a:cxnLst/>
              <a:rect l="l" t="t" r="r" b="b"/>
              <a:pathLst>
                <a:path w="1404620" h="1163954">
                  <a:moveTo>
                    <a:pt x="0" y="0"/>
                  </a:moveTo>
                  <a:lnTo>
                    <a:pt x="0" y="1163739"/>
                  </a:lnTo>
                  <a:lnTo>
                    <a:pt x="1404302" y="4848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8D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36001" y="2201303"/>
              <a:ext cx="1774825" cy="2056130"/>
            </a:xfrm>
            <a:custGeom>
              <a:avLst/>
              <a:gdLst/>
              <a:ahLst/>
              <a:cxnLst/>
              <a:rect l="l" t="t" r="r" b="b"/>
              <a:pathLst>
                <a:path w="1774825" h="2056129">
                  <a:moveTo>
                    <a:pt x="1774799" y="0"/>
                  </a:moveTo>
                  <a:lnTo>
                    <a:pt x="0" y="0"/>
                  </a:lnTo>
                  <a:lnTo>
                    <a:pt x="0" y="2055698"/>
                  </a:lnTo>
                  <a:lnTo>
                    <a:pt x="1774799" y="2055698"/>
                  </a:lnTo>
                  <a:lnTo>
                    <a:pt x="17747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278498" y="2162147"/>
            <a:ext cx="153035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200" b="1" dirty="0">
                <a:solidFill>
                  <a:srgbClr val="F79423"/>
                </a:solidFill>
                <a:latin typeface="Montserrat-Black"/>
                <a:cs typeface="Montserrat-Black"/>
              </a:rPr>
              <a:t>75%</a:t>
            </a:r>
            <a:endParaRPr sz="5200">
              <a:latin typeface="Montserrat-Black"/>
              <a:cs typeface="Montserrat-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78498" y="2889388"/>
            <a:ext cx="1497965" cy="1281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699"/>
              </a:lnSpc>
              <a:spcBef>
                <a:spcPts val="95"/>
              </a:spcBef>
            </a:pPr>
            <a:r>
              <a:rPr sz="1200" spc="5" dirty="0">
                <a:solidFill>
                  <a:srgbClr val="1C3C6E"/>
                </a:solidFill>
                <a:latin typeface="Montserrat-Medium"/>
                <a:cs typeface="Montserrat-Medium"/>
              </a:rPr>
              <a:t>de </a:t>
            </a:r>
            <a:r>
              <a:rPr sz="1200" dirty="0">
                <a:solidFill>
                  <a:srgbClr val="1C3C6E"/>
                </a:solidFill>
                <a:latin typeface="Montserrat-Medium"/>
                <a:cs typeface="Montserrat-Medium"/>
              </a:rPr>
              <a:t>las empresas  implementaron  mejoras </a:t>
            </a:r>
            <a:r>
              <a:rPr sz="1200" spc="5" dirty="0">
                <a:solidFill>
                  <a:srgbClr val="1C3C6E"/>
                </a:solidFill>
                <a:latin typeface="Montserrat-Medium"/>
                <a:cs typeface="Montserrat-Medium"/>
              </a:rPr>
              <a:t>a</a:t>
            </a:r>
            <a:r>
              <a:rPr sz="1200" spc="-60" dirty="0">
                <a:solidFill>
                  <a:srgbClr val="1C3C6E"/>
                </a:solidFill>
                <a:latin typeface="Montserrat-Medium"/>
                <a:cs typeface="Montserrat-Medium"/>
              </a:rPr>
              <a:t> </a:t>
            </a:r>
            <a:r>
              <a:rPr sz="1200" dirty="0">
                <a:solidFill>
                  <a:srgbClr val="1C3C6E"/>
                </a:solidFill>
                <a:latin typeface="Montserrat-Medium"/>
                <a:cs typeface="Montserrat-Medium"/>
              </a:rPr>
              <a:t>sistemas  tecnológicos</a:t>
            </a:r>
            <a:endParaRPr sz="1200">
              <a:latin typeface="Montserrat-Medium"/>
              <a:cs typeface="Montserrat-Medium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r>
              <a:rPr sz="2500" b="1" dirty="0">
                <a:solidFill>
                  <a:srgbClr val="F79423"/>
                </a:solidFill>
                <a:latin typeface="Montserrat"/>
                <a:cs typeface="Montserrat"/>
              </a:rPr>
              <a:t>2020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3996" y="1818005"/>
            <a:ext cx="1750060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3495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185"/>
              </a:spcBef>
            </a:pPr>
            <a:r>
              <a:rPr sz="1200" b="1" dirty="0">
                <a:solidFill>
                  <a:srgbClr val="FFFFFF"/>
                </a:solidFill>
                <a:latin typeface="Montserrat"/>
                <a:cs typeface="Montserrat"/>
              </a:rPr>
              <a:t>Estadísticas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31299" y="433933"/>
            <a:ext cx="15443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</a:t>
            </a:r>
            <a:r>
              <a:rPr spc="55" dirty="0"/>
              <a:t>r</a:t>
            </a:r>
            <a:r>
              <a:rPr dirty="0"/>
              <a:t>vicios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85343" y="133199"/>
            <a:ext cx="9960610" cy="6269355"/>
            <a:chOff x="485343" y="133199"/>
            <a:chExt cx="9960610" cy="6269355"/>
          </a:xfrm>
        </p:grpSpPr>
        <p:sp>
          <p:nvSpPr>
            <p:cNvPr id="13" name="object 13"/>
            <p:cNvSpPr/>
            <p:nvPr/>
          </p:nvSpPr>
          <p:spPr>
            <a:xfrm>
              <a:off x="8288997" y="3708006"/>
              <a:ext cx="756285" cy="45085"/>
            </a:xfrm>
            <a:custGeom>
              <a:avLst/>
              <a:gdLst/>
              <a:ahLst/>
              <a:cxnLst/>
              <a:rect l="l" t="t" r="r" b="b"/>
              <a:pathLst>
                <a:path w="756284" h="45085">
                  <a:moveTo>
                    <a:pt x="756005" y="0"/>
                  </a:moveTo>
                  <a:lnTo>
                    <a:pt x="0" y="0"/>
                  </a:lnTo>
                  <a:lnTo>
                    <a:pt x="0" y="44996"/>
                  </a:lnTo>
                  <a:lnTo>
                    <a:pt x="756005" y="44996"/>
                  </a:lnTo>
                  <a:lnTo>
                    <a:pt x="756005" y="0"/>
                  </a:lnTo>
                  <a:close/>
                </a:path>
              </a:pathLst>
            </a:custGeom>
            <a:solidFill>
              <a:srgbClr val="4C79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07994" y="133199"/>
              <a:ext cx="1037463" cy="1111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5343" y="3843007"/>
              <a:ext cx="2094966" cy="25595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9981" y="3843007"/>
              <a:ext cx="2118499" cy="25595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73751" y="3843007"/>
              <a:ext cx="2118512" cy="25595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80999" y="1174489"/>
              <a:ext cx="409575" cy="450215"/>
            </a:xfrm>
            <a:custGeom>
              <a:avLst/>
              <a:gdLst/>
              <a:ahLst/>
              <a:cxnLst/>
              <a:rect l="l" t="t" r="r" b="b"/>
              <a:pathLst>
                <a:path w="409575" h="450215">
                  <a:moveTo>
                    <a:pt x="204736" y="0"/>
                  </a:moveTo>
                  <a:lnTo>
                    <a:pt x="0" y="115392"/>
                  </a:lnTo>
                  <a:lnTo>
                    <a:pt x="0" y="340575"/>
                  </a:lnTo>
                  <a:lnTo>
                    <a:pt x="207937" y="450011"/>
                  </a:lnTo>
                  <a:lnTo>
                    <a:pt x="409473" y="340855"/>
                  </a:lnTo>
                  <a:lnTo>
                    <a:pt x="409473" y="115392"/>
                  </a:lnTo>
                  <a:lnTo>
                    <a:pt x="204736" y="0"/>
                  </a:lnTo>
                  <a:close/>
                </a:path>
              </a:pathLst>
            </a:custGeom>
            <a:solidFill>
              <a:srgbClr val="006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6804" y="1206003"/>
              <a:ext cx="409575" cy="450215"/>
            </a:xfrm>
            <a:custGeom>
              <a:avLst/>
              <a:gdLst/>
              <a:ahLst/>
              <a:cxnLst/>
              <a:rect l="l" t="t" r="r" b="b"/>
              <a:pathLst>
                <a:path w="409575" h="450214">
                  <a:moveTo>
                    <a:pt x="204736" y="0"/>
                  </a:moveTo>
                  <a:lnTo>
                    <a:pt x="0" y="115379"/>
                  </a:lnTo>
                  <a:lnTo>
                    <a:pt x="0" y="340563"/>
                  </a:lnTo>
                  <a:lnTo>
                    <a:pt x="207937" y="449999"/>
                  </a:lnTo>
                  <a:lnTo>
                    <a:pt x="409473" y="340842"/>
                  </a:lnTo>
                  <a:lnTo>
                    <a:pt x="409473" y="115379"/>
                  </a:lnTo>
                  <a:lnTo>
                    <a:pt x="204736" y="0"/>
                  </a:lnTo>
                  <a:close/>
                </a:path>
              </a:pathLst>
            </a:custGeom>
            <a:solidFill>
              <a:srgbClr val="F36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75001" y="1174489"/>
              <a:ext cx="409575" cy="450215"/>
            </a:xfrm>
            <a:custGeom>
              <a:avLst/>
              <a:gdLst/>
              <a:ahLst/>
              <a:cxnLst/>
              <a:rect l="l" t="t" r="r" b="b"/>
              <a:pathLst>
                <a:path w="409575" h="450215">
                  <a:moveTo>
                    <a:pt x="204736" y="0"/>
                  </a:moveTo>
                  <a:lnTo>
                    <a:pt x="0" y="115392"/>
                  </a:lnTo>
                  <a:lnTo>
                    <a:pt x="0" y="340575"/>
                  </a:lnTo>
                  <a:lnTo>
                    <a:pt x="207937" y="450011"/>
                  </a:lnTo>
                  <a:lnTo>
                    <a:pt x="409473" y="340855"/>
                  </a:lnTo>
                  <a:lnTo>
                    <a:pt x="409473" y="115392"/>
                  </a:lnTo>
                  <a:lnTo>
                    <a:pt x="204736" y="0"/>
                  </a:lnTo>
                  <a:close/>
                </a:path>
              </a:pathLst>
            </a:custGeom>
            <a:solidFill>
              <a:srgbClr val="FFC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4045" y="2099237"/>
            <a:ext cx="2131060" cy="9683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Redes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latin typeface="Montserrat-Light"/>
                <a:cs typeface="Montserrat-Light"/>
              </a:rPr>
              <a:t>Lorem ipsum 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 </a:t>
            </a:r>
            <a:r>
              <a:rPr sz="1000" dirty="0">
                <a:latin typeface="Montserrat-Light"/>
                <a:cs typeface="Montserrat-Light"/>
              </a:rPr>
              <a:t>adipiscing elit, sed</a:t>
            </a:r>
            <a:r>
              <a:rPr sz="1000" spc="-20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85003" y="2097038"/>
            <a:ext cx="2132965" cy="9715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0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Desarrollo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Lorem ipsum 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 </a:t>
            </a:r>
            <a:r>
              <a:rPr sz="1000" dirty="0">
                <a:latin typeface="Montserrat-Light"/>
                <a:cs typeface="Montserrat-Light"/>
              </a:rPr>
              <a:t>adipiscing elit, sed</a:t>
            </a:r>
            <a:r>
              <a:rPr sz="1000" spc="-18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58776" y="2097038"/>
            <a:ext cx="2153285" cy="9715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 algn="just">
              <a:lnSpc>
                <a:spcPct val="100000"/>
              </a:lnSpc>
              <a:spcBef>
                <a:spcPts val="1100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Data</a:t>
            </a:r>
            <a:r>
              <a:rPr sz="1950" b="1" spc="-10" dirty="0">
                <a:solidFill>
                  <a:srgbClr val="F79423"/>
                </a:solidFill>
                <a:latin typeface="Montserrat"/>
                <a:cs typeface="Montserrat"/>
              </a:rPr>
              <a:t> </a:t>
            </a:r>
            <a:r>
              <a:rPr sz="1950" b="1" dirty="0">
                <a:solidFill>
                  <a:srgbClr val="F79423"/>
                </a:solidFill>
                <a:latin typeface="Montserrat"/>
                <a:cs typeface="Montserrat"/>
              </a:rPr>
              <a:t>Driven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Lorem ipsum 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 </a:t>
            </a:r>
            <a:r>
              <a:rPr sz="1000" dirty="0">
                <a:latin typeface="Montserrat-Light"/>
                <a:cs typeface="Montserrat-Light"/>
              </a:rPr>
              <a:t>adipiscing elit, sed</a:t>
            </a:r>
            <a:r>
              <a:rPr sz="1000" spc="-2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5343" y="1836013"/>
            <a:ext cx="1290955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9845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235"/>
              </a:spcBef>
            </a:pP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empresas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84005" y="1836013"/>
            <a:ext cx="1680210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984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235"/>
              </a:spcBef>
            </a:pPr>
            <a:r>
              <a:rPr sz="1200" b="1" dirty="0">
                <a:solidFill>
                  <a:srgbClr val="FFFFFF"/>
                </a:solidFill>
                <a:latin typeface="Montserrat"/>
                <a:cs typeface="Montserrat"/>
              </a:rPr>
              <a:t>sistemas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89346" y="1836013"/>
            <a:ext cx="1290955" cy="236854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235"/>
              </a:spcBef>
            </a:pPr>
            <a:r>
              <a:rPr sz="1200" b="1" dirty="0">
                <a:solidFill>
                  <a:srgbClr val="FFFFFF"/>
                </a:solidFill>
                <a:latin typeface="Montserrat"/>
                <a:cs typeface="Montserrat"/>
              </a:rPr>
              <a:t>start</a:t>
            </a:r>
            <a:r>
              <a:rPr sz="1200" b="1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ups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6299" y="1217804"/>
            <a:ext cx="1562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Montserrat"/>
                <a:cs typeface="Montserrat"/>
              </a:rPr>
              <a:t>1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76299" y="1172339"/>
            <a:ext cx="215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Montserrat"/>
                <a:cs typeface="Montserrat"/>
              </a:rPr>
              <a:t>2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79299" y="1172339"/>
            <a:ext cx="2025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Montserrat"/>
                <a:cs typeface="Montserrat"/>
              </a:rPr>
              <a:t>3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36001" y="6168009"/>
            <a:ext cx="2281555" cy="262255"/>
          </a:xfrm>
          <a:prstGeom prst="rect">
            <a:avLst/>
          </a:prstGeom>
          <a:solidFill>
            <a:srgbClr val="F7941D"/>
          </a:solidFill>
        </p:spPr>
        <p:txBody>
          <a:bodyPr vert="horz" wrap="square" lIns="0" tIns="4000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315"/>
              </a:spcBef>
            </a:pPr>
            <a:r>
              <a:rPr sz="1100" spc="20" dirty="0">
                <a:solidFill>
                  <a:srgbClr val="FFFFFF"/>
                </a:solidFill>
                <a:latin typeface="DIN-Medium"/>
                <a:cs typeface="DIN-Medium"/>
              </a:rPr>
              <a:t>&gt;</a:t>
            </a:r>
            <a:r>
              <a:rPr sz="1100" spc="250" dirty="0">
                <a:solidFill>
                  <a:srgbClr val="FFFFFF"/>
                </a:solidFill>
                <a:latin typeface="DIN-Medium"/>
                <a:cs typeface="DIN-Medium"/>
              </a:rPr>
              <a:t> </a:t>
            </a:r>
            <a:r>
              <a:rPr sz="1100" b="1" spc="20" dirty="0">
                <a:solidFill>
                  <a:srgbClr val="FFFFFF"/>
                </a:solidFill>
                <a:latin typeface="Montserrat"/>
                <a:cs typeface="Montserrat"/>
                <a:hlinkClick r:id="rId6"/>
              </a:rPr>
              <a:t>WWW.DIREKTOR.PE</a:t>
            </a:r>
            <a:endParaRPr sz="11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"/>
            <a:ext cx="10800080" cy="3056255"/>
            <a:chOff x="0" y="6"/>
            <a:chExt cx="10800080" cy="3056255"/>
          </a:xfrm>
        </p:grpSpPr>
        <p:sp>
          <p:nvSpPr>
            <p:cNvPr id="3" name="object 3"/>
            <p:cNvSpPr/>
            <p:nvPr/>
          </p:nvSpPr>
          <p:spPr>
            <a:xfrm>
              <a:off x="13533" y="9447"/>
              <a:ext cx="10786745" cy="2921635"/>
            </a:xfrm>
            <a:custGeom>
              <a:avLst/>
              <a:gdLst/>
              <a:ahLst/>
              <a:cxnLst/>
              <a:rect l="l" t="t" r="r" b="b"/>
              <a:pathLst>
                <a:path w="10786745" h="2921635">
                  <a:moveTo>
                    <a:pt x="10786465" y="0"/>
                  </a:moveTo>
                  <a:lnTo>
                    <a:pt x="0" y="0"/>
                  </a:lnTo>
                  <a:lnTo>
                    <a:pt x="0" y="2288438"/>
                  </a:lnTo>
                  <a:lnTo>
                    <a:pt x="10786465" y="2921406"/>
                  </a:lnTo>
                  <a:lnTo>
                    <a:pt x="10786465" y="0"/>
                  </a:lnTo>
                  <a:close/>
                </a:path>
              </a:pathLst>
            </a:custGeom>
            <a:solidFill>
              <a:srgbClr val="21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06" y="6"/>
              <a:ext cx="10796905" cy="2340610"/>
            </a:xfrm>
            <a:custGeom>
              <a:avLst/>
              <a:gdLst/>
              <a:ahLst/>
              <a:cxnLst/>
              <a:rect l="l" t="t" r="r" b="b"/>
              <a:pathLst>
                <a:path w="10796905" h="2340610">
                  <a:moveTo>
                    <a:pt x="10796600" y="0"/>
                  </a:moveTo>
                  <a:lnTo>
                    <a:pt x="0" y="0"/>
                  </a:lnTo>
                  <a:lnTo>
                    <a:pt x="0" y="2334856"/>
                  </a:lnTo>
                  <a:lnTo>
                    <a:pt x="85801" y="2340000"/>
                  </a:lnTo>
                  <a:lnTo>
                    <a:pt x="10796600" y="0"/>
                  </a:lnTo>
                  <a:close/>
                </a:path>
              </a:pathLst>
            </a:custGeom>
            <a:solidFill>
              <a:srgbClr val="1C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06" y="9443"/>
              <a:ext cx="10796905" cy="2452370"/>
            </a:xfrm>
            <a:custGeom>
              <a:avLst/>
              <a:gdLst/>
              <a:ahLst/>
              <a:cxnLst/>
              <a:rect l="l" t="t" r="r" b="b"/>
              <a:pathLst>
                <a:path w="10796905" h="2452370">
                  <a:moveTo>
                    <a:pt x="10796600" y="0"/>
                  </a:moveTo>
                  <a:lnTo>
                    <a:pt x="0" y="2293467"/>
                  </a:lnTo>
                  <a:lnTo>
                    <a:pt x="2722791" y="2451836"/>
                  </a:lnTo>
                  <a:lnTo>
                    <a:pt x="10796600" y="703668"/>
                  </a:lnTo>
                  <a:lnTo>
                    <a:pt x="10796600" y="0"/>
                  </a:lnTo>
                  <a:close/>
                </a:path>
              </a:pathLst>
            </a:custGeom>
            <a:solidFill>
              <a:srgbClr val="4479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292327"/>
              <a:ext cx="2762250" cy="763905"/>
            </a:xfrm>
            <a:custGeom>
              <a:avLst/>
              <a:gdLst/>
              <a:ahLst/>
              <a:cxnLst/>
              <a:rect l="l" t="t" r="r" b="b"/>
              <a:pathLst>
                <a:path w="2762250" h="763905">
                  <a:moveTo>
                    <a:pt x="0" y="0"/>
                  </a:moveTo>
                  <a:lnTo>
                    <a:pt x="0" y="763689"/>
                  </a:lnTo>
                  <a:lnTo>
                    <a:pt x="2761881" y="161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6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1300" y="433933"/>
            <a:ext cx="3776979" cy="142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sz="2600" b="1" spc="-15" dirty="0">
                <a:solidFill>
                  <a:srgbClr val="FFFFFF"/>
                </a:solidFill>
                <a:latin typeface="Montserrat"/>
                <a:cs typeface="Montserrat"/>
              </a:rPr>
              <a:t>Valores </a:t>
            </a:r>
            <a:r>
              <a:rPr sz="2600" b="1" dirty="0">
                <a:solidFill>
                  <a:srgbClr val="FFFFFF"/>
                </a:solidFill>
                <a:latin typeface="Montserrat"/>
                <a:cs typeface="Montserrat"/>
              </a:rPr>
              <a:t>agregados</a:t>
            </a:r>
            <a:endParaRPr sz="2600">
              <a:latin typeface="Montserrat"/>
              <a:cs typeface="Montserrat"/>
            </a:endParaRPr>
          </a:p>
          <a:p>
            <a:pPr marL="12700">
              <a:lnSpc>
                <a:spcPts val="3065"/>
              </a:lnSpc>
              <a:spcBef>
                <a:spcPts val="2875"/>
              </a:spcBef>
            </a:pPr>
            <a:r>
              <a:rPr sz="2600" spc="15" dirty="0">
                <a:solidFill>
                  <a:srgbClr val="F7941D"/>
                </a:solidFill>
                <a:latin typeface="Kiona"/>
                <a:cs typeface="Kiona"/>
              </a:rPr>
              <a:t>¿por </a:t>
            </a:r>
            <a:r>
              <a:rPr sz="2600" spc="5" dirty="0">
                <a:solidFill>
                  <a:srgbClr val="F7941D"/>
                </a:solidFill>
                <a:latin typeface="Kiona"/>
                <a:cs typeface="Kiona"/>
              </a:rPr>
              <a:t>qué</a:t>
            </a:r>
            <a:r>
              <a:rPr sz="2600" spc="-55" dirty="0">
                <a:solidFill>
                  <a:srgbClr val="F7941D"/>
                </a:solidFill>
                <a:latin typeface="Kiona"/>
                <a:cs typeface="Kiona"/>
              </a:rPr>
              <a:t> </a:t>
            </a:r>
            <a:r>
              <a:rPr sz="2600" b="1" spc="5" dirty="0">
                <a:solidFill>
                  <a:srgbClr val="F7941D"/>
                </a:solidFill>
                <a:latin typeface="Kiona"/>
                <a:cs typeface="Kiona"/>
              </a:rPr>
              <a:t>ELEGIRNOS?</a:t>
            </a:r>
            <a:endParaRPr sz="2600">
              <a:latin typeface="Kiona"/>
              <a:cs typeface="Kiona"/>
            </a:endParaRPr>
          </a:p>
          <a:p>
            <a:pPr marL="239395">
              <a:lnSpc>
                <a:spcPts val="1925"/>
              </a:lnSpc>
            </a:pPr>
            <a:r>
              <a:rPr sz="1650" b="1" spc="-5" dirty="0">
                <a:solidFill>
                  <a:srgbClr val="FFFFFF"/>
                </a:solidFill>
                <a:latin typeface="Kiona"/>
                <a:cs typeface="Kiona"/>
              </a:rPr>
              <a:t>elementos</a:t>
            </a:r>
            <a:r>
              <a:rPr sz="1650" b="1" dirty="0">
                <a:solidFill>
                  <a:srgbClr val="FFFFFF"/>
                </a:solidFill>
                <a:latin typeface="Kiona"/>
                <a:cs typeface="Kiona"/>
              </a:rPr>
              <a:t> </a:t>
            </a:r>
            <a:r>
              <a:rPr sz="1650" b="1" spc="5" dirty="0">
                <a:solidFill>
                  <a:srgbClr val="FFFFFF"/>
                </a:solidFill>
                <a:latin typeface="Kiona"/>
                <a:cs typeface="Kiona"/>
              </a:rPr>
              <a:t>diferenciadores</a:t>
            </a:r>
            <a:endParaRPr sz="1650">
              <a:latin typeface="Kiona"/>
              <a:cs typeface="Kio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46801" y="133199"/>
            <a:ext cx="4998720" cy="2270125"/>
            <a:chOff x="5446801" y="133199"/>
            <a:chExt cx="4998720" cy="2270125"/>
          </a:xfrm>
        </p:grpSpPr>
        <p:sp>
          <p:nvSpPr>
            <p:cNvPr id="9" name="object 9"/>
            <p:cNvSpPr/>
            <p:nvPr/>
          </p:nvSpPr>
          <p:spPr>
            <a:xfrm>
              <a:off x="9407994" y="133199"/>
              <a:ext cx="1037463" cy="1111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801" y="1476006"/>
              <a:ext cx="4075429" cy="927100"/>
            </a:xfrm>
            <a:custGeom>
              <a:avLst/>
              <a:gdLst/>
              <a:ahLst/>
              <a:cxnLst/>
              <a:rect l="l" t="t" r="r" b="b"/>
              <a:pathLst>
                <a:path w="4075429" h="927100">
                  <a:moveTo>
                    <a:pt x="4075201" y="0"/>
                  </a:moveTo>
                  <a:lnTo>
                    <a:pt x="0" y="0"/>
                  </a:lnTo>
                  <a:lnTo>
                    <a:pt x="0" y="926998"/>
                  </a:lnTo>
                  <a:lnTo>
                    <a:pt x="4075201" y="926998"/>
                  </a:lnTo>
                  <a:lnTo>
                    <a:pt x="40752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7045" y="4320749"/>
            <a:ext cx="2131060" cy="11207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Personalización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latin typeface="Montserrat-Light"/>
                <a:cs typeface="Montserrat-Light"/>
              </a:rPr>
              <a:t>Y adaptación a las distintas  </a:t>
            </a:r>
            <a:r>
              <a:rPr sz="1000" spc="-5" dirty="0">
                <a:latin typeface="Montserrat-Light"/>
                <a:cs typeface="Montserrat-Light"/>
              </a:rPr>
              <a:t>necesidades... </a:t>
            </a:r>
            <a:r>
              <a:rPr sz="1000" dirty="0">
                <a:latin typeface="Montserrat-Light"/>
                <a:cs typeface="Montserrat-Light"/>
              </a:rPr>
              <a:t>dolor sit amet, </a:t>
            </a:r>
            <a:r>
              <a:rPr sz="1000" spc="-10" dirty="0">
                <a:latin typeface="Montserrat-Light"/>
                <a:cs typeface="Montserrat-Light"/>
              </a:rPr>
              <a:t>con-  </a:t>
            </a:r>
            <a:r>
              <a:rPr sz="1000" spc="-5" dirty="0">
                <a:latin typeface="Montserrat-Light"/>
                <a:cs typeface="Montserrat-Light"/>
              </a:rPr>
              <a:t>sectetuer </a:t>
            </a:r>
            <a:r>
              <a:rPr sz="1000" dirty="0">
                <a:latin typeface="Montserrat-Light"/>
                <a:cs typeface="Montserrat-Light"/>
              </a:rPr>
              <a:t>adipiscing elit, sed</a:t>
            </a:r>
            <a:r>
              <a:rPr sz="1000" spc="-20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diam 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0002" y="4318551"/>
            <a:ext cx="2132965" cy="9715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0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Seguimiento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A los </a:t>
            </a:r>
            <a:r>
              <a:rPr sz="1000" spc="-5" dirty="0">
                <a:latin typeface="Montserrat-Light"/>
                <a:cs typeface="Montserrat-Light"/>
              </a:rPr>
              <a:t>procesos... </a:t>
            </a:r>
            <a:r>
              <a:rPr sz="1000" dirty="0">
                <a:latin typeface="Montserrat-Light"/>
                <a:cs typeface="Montserrat-Light"/>
              </a:rPr>
              <a:t>dolor sit amet,  </a:t>
            </a:r>
            <a:r>
              <a:rPr sz="1000" spc="-5" dirty="0">
                <a:latin typeface="Montserrat-Light"/>
                <a:cs typeface="Montserrat-Light"/>
              </a:rPr>
              <a:t>consectetuer </a:t>
            </a:r>
            <a:r>
              <a:rPr sz="1000" dirty="0">
                <a:latin typeface="Montserrat-Light"/>
                <a:cs typeface="Montserrat-Light"/>
              </a:rPr>
              <a:t>adipiscing elit, sed  diam </a:t>
            </a:r>
            <a:r>
              <a:rPr sz="1000" spc="-5" dirty="0">
                <a:latin typeface="Montserrat-Light"/>
                <a:cs typeface="Montserrat-Light"/>
              </a:rPr>
              <a:t>nonummy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-3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3739" y="4318551"/>
            <a:ext cx="2335530" cy="12763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0"/>
              </a:spcBef>
            </a:pPr>
            <a:r>
              <a:rPr sz="1950" b="1" dirty="0">
                <a:solidFill>
                  <a:srgbClr val="F79423"/>
                </a:solidFill>
                <a:latin typeface="Montserrat"/>
                <a:cs typeface="Montserrat"/>
              </a:rPr>
              <a:t>Acompañamiento</a:t>
            </a:r>
            <a:endParaRPr sz="1950">
              <a:latin typeface="Montserrat"/>
              <a:cs typeface="Montserrat"/>
            </a:endParaRPr>
          </a:p>
          <a:p>
            <a:pPr marL="12700" marR="18669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Asesoría </a:t>
            </a:r>
            <a:r>
              <a:rPr sz="1000" spc="-5" dirty="0">
                <a:latin typeface="Montserrat-Light"/>
                <a:cs typeface="Montserrat-Light"/>
              </a:rPr>
              <a:t>personalizada </a:t>
            </a:r>
            <a:r>
              <a:rPr sz="1000" dirty="0">
                <a:latin typeface="Montserrat-Light"/>
                <a:cs typeface="Montserrat-Light"/>
              </a:rPr>
              <a:t>y presen-  cial a los equipos de </a:t>
            </a:r>
            <a:r>
              <a:rPr sz="1000" spc="-5" dirty="0">
                <a:latin typeface="Montserrat-Light"/>
                <a:cs typeface="Montserrat-Light"/>
              </a:rPr>
              <a:t>trabajo, ip-  </a:t>
            </a:r>
            <a:r>
              <a:rPr sz="1000" dirty="0">
                <a:latin typeface="Montserrat-Light"/>
                <a:cs typeface="Montserrat-Light"/>
              </a:rPr>
              <a:t>sum dolor sit amet, </a:t>
            </a:r>
            <a:r>
              <a:rPr sz="1000" spc="-5" dirty="0">
                <a:latin typeface="Montserrat-Light"/>
                <a:cs typeface="Montserrat-Light"/>
              </a:rPr>
              <a:t>consectetuer </a:t>
            </a:r>
            <a:r>
              <a:rPr sz="1000" spc="26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adipiscing elit, sed diam </a:t>
            </a:r>
            <a:r>
              <a:rPr sz="1000" spc="-5" dirty="0">
                <a:latin typeface="Montserrat-Light"/>
                <a:cs typeface="Montserrat-Light"/>
              </a:rPr>
              <a:t>nonum- </a:t>
            </a:r>
            <a:r>
              <a:rPr sz="1000" spc="260" dirty="0">
                <a:latin typeface="Montserrat-Light"/>
                <a:cs typeface="Montserrat-Light"/>
              </a:rPr>
              <a:t> </a:t>
            </a:r>
            <a:r>
              <a:rPr sz="1000" spc="-15" dirty="0">
                <a:latin typeface="Montserrat-Light"/>
                <a:cs typeface="Montserrat-Light"/>
              </a:rPr>
              <a:t>my </a:t>
            </a:r>
            <a:r>
              <a:rPr sz="1000" dirty="0">
                <a:latin typeface="Montserrat-Light"/>
                <a:cs typeface="Montserrat-Light"/>
              </a:rPr>
              <a:t>nibh</a:t>
            </a:r>
            <a:r>
              <a:rPr sz="1000" spc="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euismod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02576" y="4318551"/>
            <a:ext cx="2153285" cy="11239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0"/>
              </a:spcBef>
            </a:pPr>
            <a:r>
              <a:rPr sz="1950" b="1" spc="5" dirty="0">
                <a:solidFill>
                  <a:srgbClr val="F79423"/>
                </a:solidFill>
                <a:latin typeface="Montserrat"/>
                <a:cs typeface="Montserrat"/>
              </a:rPr>
              <a:t>Puntualidad</a:t>
            </a:r>
            <a:endParaRPr sz="1950">
              <a:latin typeface="Montserrat"/>
              <a:cs typeface="Montserrat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ontserrat-Light"/>
                <a:cs typeface="Montserrat-Light"/>
              </a:rPr>
              <a:t>A </a:t>
            </a:r>
            <a:r>
              <a:rPr sz="1000" spc="-15" dirty="0">
                <a:latin typeface="Montserrat-Light"/>
                <a:cs typeface="Montserrat-Light"/>
              </a:rPr>
              <a:t>través </a:t>
            </a:r>
            <a:r>
              <a:rPr sz="1000" dirty="0">
                <a:latin typeface="Montserrat-Light"/>
                <a:cs typeface="Montserrat-Light"/>
              </a:rPr>
              <a:t>de la medición y análi-  sis de </a:t>
            </a:r>
            <a:r>
              <a:rPr sz="1000" spc="-5" dirty="0">
                <a:latin typeface="Montserrat-Light"/>
                <a:cs typeface="Montserrat-Light"/>
              </a:rPr>
              <a:t>procesos </a:t>
            </a:r>
            <a:r>
              <a:rPr sz="1000" dirty="0">
                <a:latin typeface="Montserrat-Light"/>
                <a:cs typeface="Montserrat-Light"/>
              </a:rPr>
              <a:t>y </a:t>
            </a:r>
            <a:r>
              <a:rPr sz="1000" spc="-5" dirty="0">
                <a:latin typeface="Montserrat-Light"/>
                <a:cs typeface="Montserrat-Light"/>
              </a:rPr>
              <a:t>datos </a:t>
            </a:r>
            <a:r>
              <a:rPr sz="1000" dirty="0">
                <a:latin typeface="Montserrat-Light"/>
                <a:cs typeface="Montserrat-Light"/>
              </a:rPr>
              <a:t>podemos  cumplir</a:t>
            </a:r>
            <a:r>
              <a:rPr sz="1000" spc="-70" dirty="0">
                <a:latin typeface="Montserrat-Light"/>
                <a:cs typeface="Montserrat-Light"/>
              </a:rPr>
              <a:t> </a:t>
            </a:r>
            <a:r>
              <a:rPr sz="1000" spc="-10" dirty="0">
                <a:latin typeface="Montserrat-Light"/>
                <a:cs typeface="Montserrat-Light"/>
              </a:rPr>
              <a:t>con</a:t>
            </a:r>
            <a:r>
              <a:rPr sz="1000" spc="-6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los</a:t>
            </a:r>
            <a:r>
              <a:rPr sz="1000" spc="-65" dirty="0">
                <a:latin typeface="Montserrat-Light"/>
                <a:cs typeface="Montserrat-Light"/>
              </a:rPr>
              <a:t> </a:t>
            </a:r>
            <a:r>
              <a:rPr sz="1000" spc="-10" dirty="0">
                <a:latin typeface="Montserrat-Light"/>
                <a:cs typeface="Montserrat-Light"/>
              </a:rPr>
              <a:t>proyectos</a:t>
            </a:r>
            <a:r>
              <a:rPr sz="1000" spc="-6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en</a:t>
            </a:r>
            <a:r>
              <a:rPr sz="1000" spc="-6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tiem-  po y</a:t>
            </a:r>
            <a:r>
              <a:rPr sz="1000" spc="-5" dirty="0">
                <a:latin typeface="Montserrat-Light"/>
                <a:cs typeface="Montserrat-Light"/>
              </a:rPr>
              <a:t> forma.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347" y="4057523"/>
            <a:ext cx="1290955" cy="236854"/>
          </a:xfrm>
          <a:prstGeom prst="rect">
            <a:avLst/>
          </a:prstGeom>
          <a:solidFill>
            <a:srgbClr val="4479BD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65"/>
              </a:spcBef>
            </a:pPr>
            <a:r>
              <a:rPr sz="1200" b="1" dirty="0">
                <a:solidFill>
                  <a:srgbClr val="FFFFFF"/>
                </a:solidFill>
                <a:latin typeface="Montserrat"/>
                <a:cs typeface="Montserrat"/>
              </a:rPr>
              <a:t>flexibilidad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9006" y="4057523"/>
            <a:ext cx="1680210" cy="236854"/>
          </a:xfrm>
          <a:prstGeom prst="rect">
            <a:avLst/>
          </a:prstGeom>
          <a:solidFill>
            <a:srgbClr val="4479BD"/>
          </a:solidFill>
        </p:spPr>
        <p:txBody>
          <a:bodyPr vert="horz" wrap="square" lIns="0" tIns="20955" rIns="0" bIns="0" rtlCol="0">
            <a:spAutoFit/>
          </a:bodyPr>
          <a:lstStyle/>
          <a:p>
            <a:pPr marL="473709">
              <a:lnSpc>
                <a:spcPct val="100000"/>
              </a:lnSpc>
              <a:spcBef>
                <a:spcPts val="165"/>
              </a:spcBef>
            </a:pPr>
            <a:r>
              <a:rPr sz="1200" b="1" dirty="0">
                <a:solidFill>
                  <a:srgbClr val="FFFFFF"/>
                </a:solidFill>
                <a:latin typeface="Montserrat"/>
                <a:cs typeface="Montserrat"/>
              </a:rPr>
              <a:t>liderazgo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64302" y="4057523"/>
            <a:ext cx="1758950" cy="236854"/>
          </a:xfrm>
          <a:prstGeom prst="rect">
            <a:avLst/>
          </a:prstGeom>
          <a:solidFill>
            <a:srgbClr val="4479BD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165"/>
              </a:spcBef>
            </a:pPr>
            <a:r>
              <a:rPr sz="1200" b="1" dirty="0">
                <a:solidFill>
                  <a:srgbClr val="FFFFFF"/>
                </a:solidFill>
                <a:latin typeface="Montserrat"/>
                <a:cs typeface="Montserrat"/>
              </a:rPr>
              <a:t>trabajo </a:t>
            </a: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en</a:t>
            </a:r>
            <a:r>
              <a:rPr sz="1200" b="1" spc="-2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200" b="1" spc="5" dirty="0">
                <a:solidFill>
                  <a:srgbClr val="FFFFFF"/>
                </a:solidFill>
                <a:latin typeface="Montserrat"/>
                <a:cs typeface="Montserrat"/>
              </a:rPr>
              <a:t>equipo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33143" y="4057523"/>
            <a:ext cx="1290955" cy="236854"/>
          </a:xfrm>
          <a:prstGeom prst="rect">
            <a:avLst/>
          </a:prstGeom>
          <a:solidFill>
            <a:srgbClr val="4479BD"/>
          </a:solidFill>
        </p:spPr>
        <p:txBody>
          <a:bodyPr vert="horz" wrap="square" lIns="0" tIns="2095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165"/>
              </a:spcBef>
            </a:pPr>
            <a:r>
              <a:rPr sz="1200" b="1" dirty="0">
                <a:solidFill>
                  <a:srgbClr val="FFFFFF"/>
                </a:solidFill>
                <a:latin typeface="Montserrat"/>
                <a:cs typeface="Montserrat"/>
              </a:rPr>
              <a:t>controles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15998" y="3396014"/>
            <a:ext cx="409575" cy="450215"/>
          </a:xfrm>
          <a:custGeom>
            <a:avLst/>
            <a:gdLst/>
            <a:ahLst/>
            <a:cxnLst/>
            <a:rect l="l" t="t" r="r" b="b"/>
            <a:pathLst>
              <a:path w="409575" h="450214">
                <a:moveTo>
                  <a:pt x="204736" y="0"/>
                </a:moveTo>
                <a:lnTo>
                  <a:pt x="0" y="115379"/>
                </a:lnTo>
                <a:lnTo>
                  <a:pt x="0" y="340563"/>
                </a:lnTo>
                <a:lnTo>
                  <a:pt x="207937" y="449999"/>
                </a:lnTo>
                <a:lnTo>
                  <a:pt x="409473" y="340842"/>
                </a:lnTo>
                <a:lnTo>
                  <a:pt x="409473" y="115379"/>
                </a:lnTo>
                <a:lnTo>
                  <a:pt x="204736" y="0"/>
                </a:lnTo>
                <a:close/>
              </a:path>
            </a:pathLst>
          </a:custGeom>
          <a:solidFill>
            <a:srgbClr val="00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0800" y="3427515"/>
            <a:ext cx="409575" cy="450215"/>
          </a:xfrm>
          <a:custGeom>
            <a:avLst/>
            <a:gdLst/>
            <a:ahLst/>
            <a:cxnLst/>
            <a:rect l="l" t="t" r="r" b="b"/>
            <a:pathLst>
              <a:path w="409575" h="450214">
                <a:moveTo>
                  <a:pt x="204736" y="0"/>
                </a:moveTo>
                <a:lnTo>
                  <a:pt x="0" y="115379"/>
                </a:lnTo>
                <a:lnTo>
                  <a:pt x="0" y="340563"/>
                </a:lnTo>
                <a:lnTo>
                  <a:pt x="207937" y="449999"/>
                </a:lnTo>
                <a:lnTo>
                  <a:pt x="409473" y="340842"/>
                </a:lnTo>
                <a:lnTo>
                  <a:pt x="409473" y="115379"/>
                </a:lnTo>
                <a:lnTo>
                  <a:pt x="204736" y="0"/>
                </a:lnTo>
                <a:close/>
              </a:path>
            </a:pathLst>
          </a:custGeom>
          <a:solidFill>
            <a:srgbClr val="F36B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58967" y="3396014"/>
            <a:ext cx="409575" cy="450215"/>
          </a:xfrm>
          <a:custGeom>
            <a:avLst/>
            <a:gdLst/>
            <a:ahLst/>
            <a:cxnLst/>
            <a:rect l="l" t="t" r="r" b="b"/>
            <a:pathLst>
              <a:path w="409575" h="450214">
                <a:moveTo>
                  <a:pt x="204736" y="0"/>
                </a:moveTo>
                <a:lnTo>
                  <a:pt x="0" y="115379"/>
                </a:lnTo>
                <a:lnTo>
                  <a:pt x="0" y="340563"/>
                </a:lnTo>
                <a:lnTo>
                  <a:pt x="207937" y="449999"/>
                </a:lnTo>
                <a:lnTo>
                  <a:pt x="409473" y="340842"/>
                </a:lnTo>
                <a:lnTo>
                  <a:pt x="409473" y="115379"/>
                </a:lnTo>
                <a:lnTo>
                  <a:pt x="204736" y="0"/>
                </a:lnTo>
                <a:close/>
              </a:path>
            </a:pathLst>
          </a:custGeom>
          <a:solidFill>
            <a:srgbClr val="FFC7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27800" y="3396002"/>
            <a:ext cx="409575" cy="450215"/>
          </a:xfrm>
          <a:custGeom>
            <a:avLst/>
            <a:gdLst/>
            <a:ahLst/>
            <a:cxnLst/>
            <a:rect l="l" t="t" r="r" b="b"/>
            <a:pathLst>
              <a:path w="409575" h="450214">
                <a:moveTo>
                  <a:pt x="204736" y="0"/>
                </a:moveTo>
                <a:lnTo>
                  <a:pt x="0" y="115392"/>
                </a:lnTo>
                <a:lnTo>
                  <a:pt x="0" y="340575"/>
                </a:lnTo>
                <a:lnTo>
                  <a:pt x="207937" y="450011"/>
                </a:lnTo>
                <a:lnTo>
                  <a:pt x="409473" y="340842"/>
                </a:lnTo>
                <a:lnTo>
                  <a:pt x="409473" y="115392"/>
                </a:lnTo>
                <a:lnTo>
                  <a:pt x="204736" y="0"/>
                </a:lnTo>
                <a:close/>
              </a:path>
            </a:pathLst>
          </a:custGeom>
          <a:solidFill>
            <a:srgbClr val="1C3C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90299" y="3439316"/>
            <a:ext cx="1562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Montserrat"/>
                <a:cs typeface="Montserrat"/>
              </a:rPr>
              <a:t>1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11300" y="3393851"/>
            <a:ext cx="215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Montserrat"/>
                <a:cs typeface="Montserrat"/>
              </a:rPr>
              <a:t>2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63262" y="3393851"/>
            <a:ext cx="2025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Montserrat"/>
                <a:cs typeface="Montserrat"/>
              </a:rPr>
              <a:t>3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14101" y="3393851"/>
            <a:ext cx="2266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Montserrat"/>
                <a:cs typeface="Montserrat"/>
              </a:rPr>
              <a:t>4</a:t>
            </a:r>
            <a:endParaRPr sz="2500">
              <a:latin typeface="Montserrat"/>
              <a:cs typeface="Montserra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61517" y="1629018"/>
            <a:ext cx="32867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49123"/>
                </a:solidFill>
                <a:latin typeface="Montserrat-Light"/>
                <a:cs typeface="Montserrat-Light"/>
              </a:rPr>
              <a:t>Transformamos 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nuestras </a:t>
            </a:r>
            <a:r>
              <a:rPr sz="1300" b="1" dirty="0">
                <a:solidFill>
                  <a:srgbClr val="F49123"/>
                </a:solidFill>
                <a:latin typeface="Montserrat"/>
                <a:cs typeface="Montserrat"/>
              </a:rPr>
              <a:t>habilidades</a:t>
            </a:r>
            <a:r>
              <a:rPr sz="1300" b="1" spc="-15" dirty="0">
                <a:solidFill>
                  <a:srgbClr val="F49123"/>
                </a:solidFill>
                <a:latin typeface="Montserrat"/>
                <a:cs typeface="Montserrat"/>
              </a:rPr>
              <a:t>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en</a:t>
            </a:r>
            <a:endParaRPr sz="1300" dirty="0">
              <a:latin typeface="Montserrat-Light"/>
              <a:cs typeface="Montserrat-Light"/>
            </a:endParaRPr>
          </a:p>
          <a:p>
            <a:pPr marL="12700" marR="431800">
              <a:lnSpc>
                <a:spcPct val="100000"/>
              </a:lnSpc>
            </a:pPr>
            <a:r>
              <a:rPr sz="1300" b="1" spc="-5" dirty="0">
                <a:solidFill>
                  <a:srgbClr val="F49123"/>
                </a:solidFill>
                <a:latin typeface="Montserrat"/>
                <a:cs typeface="Montserrat"/>
              </a:rPr>
              <a:t>ventajas </a:t>
            </a:r>
            <a:r>
              <a:rPr sz="1300" spc="-10" dirty="0">
                <a:solidFill>
                  <a:srgbClr val="F49123"/>
                </a:solidFill>
                <a:latin typeface="Montserrat-Light"/>
                <a:cs typeface="Montserrat-Light"/>
              </a:rPr>
              <a:t>para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nuestros </a:t>
            </a:r>
            <a:r>
              <a:rPr sz="1300" spc="-5" dirty="0">
                <a:solidFill>
                  <a:srgbClr val="F49123"/>
                </a:solidFill>
                <a:latin typeface="Montserrat-Light"/>
                <a:cs typeface="Montserrat-Light"/>
              </a:rPr>
              <a:t>clentes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que  se </a:t>
            </a:r>
            <a:r>
              <a:rPr sz="1300" spc="-10" dirty="0">
                <a:solidFill>
                  <a:srgbClr val="F49123"/>
                </a:solidFill>
                <a:latin typeface="Montserrat-Light"/>
                <a:cs typeface="Montserrat-Light"/>
              </a:rPr>
              <a:t>traducen </a:t>
            </a:r>
            <a:r>
              <a:rPr sz="1300" dirty="0">
                <a:solidFill>
                  <a:srgbClr val="F49123"/>
                </a:solidFill>
                <a:latin typeface="Montserrat-Light"/>
                <a:cs typeface="Montserrat-Light"/>
              </a:rPr>
              <a:t>en</a:t>
            </a:r>
            <a:r>
              <a:rPr sz="1300" spc="-60" dirty="0">
                <a:solidFill>
                  <a:srgbClr val="F49123"/>
                </a:solidFill>
                <a:latin typeface="Montserrat-Light"/>
                <a:cs typeface="Montserrat-Light"/>
              </a:rPr>
              <a:t> </a:t>
            </a:r>
            <a:r>
              <a:rPr sz="1300" b="1" dirty="0">
                <a:solidFill>
                  <a:srgbClr val="F49123"/>
                </a:solidFill>
                <a:latin typeface="Montserrat"/>
                <a:cs typeface="Montserrat"/>
              </a:rPr>
              <a:t>resultados.</a:t>
            </a:r>
            <a:endParaRPr sz="1300" dirty="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79299" y="1076190"/>
            <a:ext cx="434975" cy="1042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50" b="1" spc="5" dirty="0">
                <a:solidFill>
                  <a:srgbClr val="F49123"/>
                </a:solidFill>
                <a:latin typeface="Montserrat-Black"/>
                <a:cs typeface="Montserrat-Black"/>
              </a:rPr>
              <a:t>“</a:t>
            </a:r>
            <a:endParaRPr sz="6650">
              <a:latin typeface="Montserrat-Black"/>
              <a:cs typeface="Montserrat-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23300" y="4047591"/>
            <a:ext cx="182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36B21"/>
                </a:solidFill>
                <a:latin typeface="DIN"/>
                <a:cs typeface="DIN"/>
              </a:rPr>
              <a:t>&gt;</a:t>
            </a:r>
            <a:endParaRPr sz="1200">
              <a:latin typeface="DIN"/>
              <a:cs typeface="DI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76299" y="4047591"/>
            <a:ext cx="182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15EAC"/>
                </a:solidFill>
                <a:latin typeface="DIN"/>
                <a:cs typeface="DIN"/>
              </a:rPr>
              <a:t>&gt;</a:t>
            </a:r>
            <a:endParaRPr sz="1200">
              <a:latin typeface="DIN"/>
              <a:cs typeface="DI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95298" y="4047591"/>
            <a:ext cx="182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C708"/>
                </a:solidFill>
                <a:latin typeface="DIN"/>
                <a:cs typeface="DIN"/>
              </a:rPr>
              <a:t>&gt;</a:t>
            </a:r>
            <a:endParaRPr sz="1200">
              <a:latin typeface="DIN"/>
              <a:cs typeface="DI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08300" y="4047591"/>
            <a:ext cx="182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C3C6E"/>
                </a:solidFill>
                <a:latin typeface="DIN"/>
                <a:cs typeface="DIN"/>
              </a:rPr>
              <a:t>&gt;</a:t>
            </a:r>
            <a:endParaRPr sz="1200">
              <a:latin typeface="DIN"/>
              <a:cs typeface="DIN"/>
            </a:endParaRPr>
          </a:p>
        </p:txBody>
      </p:sp>
      <p:pic>
        <p:nvPicPr>
          <p:cNvPr id="33" name="Imagen 32" descr="flexibilida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0" y="2965450"/>
            <a:ext cx="1330336" cy="914400"/>
          </a:xfrm>
          <a:prstGeom prst="rect">
            <a:avLst/>
          </a:prstGeom>
        </p:spPr>
      </p:pic>
      <p:pic>
        <p:nvPicPr>
          <p:cNvPr id="34" name="Imagen 33" descr="apoy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700" y="2813050"/>
            <a:ext cx="1066800" cy="1066800"/>
          </a:xfrm>
          <a:prstGeom prst="rect">
            <a:avLst/>
          </a:prstGeom>
        </p:spPr>
      </p:pic>
      <p:pic>
        <p:nvPicPr>
          <p:cNvPr id="35" name="Imagen 34" descr="TeamWork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2965450"/>
            <a:ext cx="914400" cy="914400"/>
          </a:xfrm>
          <a:prstGeom prst="rect">
            <a:avLst/>
          </a:prstGeom>
        </p:spPr>
      </p:pic>
      <p:pic>
        <p:nvPicPr>
          <p:cNvPr id="36" name="Imagen 35" descr="seguimientoRev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900" y="2971800"/>
            <a:ext cx="779072" cy="984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91" y="12"/>
            <a:ext cx="10791190" cy="6840220"/>
          </a:xfrm>
          <a:custGeom>
            <a:avLst/>
            <a:gdLst/>
            <a:ahLst/>
            <a:cxnLst/>
            <a:rect l="l" t="t" r="r" b="b"/>
            <a:pathLst>
              <a:path w="10791190" h="6840220">
                <a:moveTo>
                  <a:pt x="10790999" y="0"/>
                </a:moveTo>
                <a:lnTo>
                  <a:pt x="0" y="0"/>
                </a:lnTo>
                <a:lnTo>
                  <a:pt x="0" y="6839991"/>
                </a:lnTo>
                <a:lnTo>
                  <a:pt x="10790999" y="6839991"/>
                </a:lnTo>
                <a:lnTo>
                  <a:pt x="10790999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995" y="6"/>
            <a:ext cx="10791190" cy="4897755"/>
            <a:chOff x="8995" y="6"/>
            <a:chExt cx="10791190" cy="4897755"/>
          </a:xfrm>
        </p:grpSpPr>
        <p:sp>
          <p:nvSpPr>
            <p:cNvPr id="4" name="object 4"/>
            <p:cNvSpPr/>
            <p:nvPr/>
          </p:nvSpPr>
          <p:spPr>
            <a:xfrm>
              <a:off x="8995" y="1236389"/>
              <a:ext cx="10791190" cy="3661410"/>
            </a:xfrm>
            <a:custGeom>
              <a:avLst/>
              <a:gdLst/>
              <a:ahLst/>
              <a:cxnLst/>
              <a:rect l="l" t="t" r="r" b="b"/>
              <a:pathLst>
                <a:path w="10791190" h="3661410">
                  <a:moveTo>
                    <a:pt x="10790999" y="0"/>
                  </a:moveTo>
                  <a:lnTo>
                    <a:pt x="0" y="0"/>
                  </a:lnTo>
                  <a:lnTo>
                    <a:pt x="0" y="2998711"/>
                  </a:lnTo>
                  <a:lnTo>
                    <a:pt x="10790999" y="3660952"/>
                  </a:lnTo>
                  <a:lnTo>
                    <a:pt x="10790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95" y="6"/>
              <a:ext cx="10764520" cy="1236980"/>
            </a:xfrm>
            <a:custGeom>
              <a:avLst/>
              <a:gdLst/>
              <a:ahLst/>
              <a:cxnLst/>
              <a:rect l="l" t="t" r="r" b="b"/>
              <a:pathLst>
                <a:path w="10764520" h="1236980">
                  <a:moveTo>
                    <a:pt x="10763910" y="0"/>
                  </a:moveTo>
                  <a:lnTo>
                    <a:pt x="0" y="0"/>
                  </a:lnTo>
                  <a:lnTo>
                    <a:pt x="0" y="1236383"/>
                  </a:lnTo>
                  <a:lnTo>
                    <a:pt x="8241017" y="1236383"/>
                  </a:lnTo>
                  <a:lnTo>
                    <a:pt x="10763910" y="1026007"/>
                  </a:lnTo>
                  <a:lnTo>
                    <a:pt x="10763910" y="0"/>
                  </a:lnTo>
                  <a:close/>
                </a:path>
              </a:pathLst>
            </a:custGeom>
            <a:solidFill>
              <a:srgbClr val="F5C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95" y="975602"/>
              <a:ext cx="8241030" cy="687705"/>
            </a:xfrm>
            <a:custGeom>
              <a:avLst/>
              <a:gdLst/>
              <a:ahLst/>
              <a:cxnLst/>
              <a:rect l="l" t="t" r="r" b="b"/>
              <a:pathLst>
                <a:path w="8241030" h="687705">
                  <a:moveTo>
                    <a:pt x="8241017" y="0"/>
                  </a:moveTo>
                  <a:lnTo>
                    <a:pt x="0" y="0"/>
                  </a:lnTo>
                  <a:lnTo>
                    <a:pt x="0" y="687209"/>
                  </a:lnTo>
                  <a:lnTo>
                    <a:pt x="8241017" y="0"/>
                  </a:lnTo>
                  <a:close/>
                </a:path>
              </a:pathLst>
            </a:custGeom>
            <a:solidFill>
              <a:srgbClr val="F78D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06" y="6"/>
              <a:ext cx="10791190" cy="2013585"/>
            </a:xfrm>
            <a:custGeom>
              <a:avLst/>
              <a:gdLst/>
              <a:ahLst/>
              <a:cxnLst/>
              <a:rect l="l" t="t" r="r" b="b"/>
              <a:pathLst>
                <a:path w="10791190" h="2013585">
                  <a:moveTo>
                    <a:pt x="10790999" y="0"/>
                  </a:moveTo>
                  <a:lnTo>
                    <a:pt x="0" y="0"/>
                  </a:lnTo>
                  <a:lnTo>
                    <a:pt x="0" y="966939"/>
                  </a:lnTo>
                  <a:lnTo>
                    <a:pt x="10790999" y="2013038"/>
                  </a:lnTo>
                  <a:lnTo>
                    <a:pt x="10790999" y="0"/>
                  </a:lnTo>
                  <a:close/>
                </a:path>
              </a:pathLst>
            </a:custGeom>
            <a:solidFill>
              <a:srgbClr val="005D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87001" y="2361603"/>
            <a:ext cx="1600200" cy="248285"/>
          </a:xfrm>
          <a:prstGeom prst="rect">
            <a:avLst/>
          </a:prstGeom>
          <a:solidFill>
            <a:srgbClr val="F78D2A"/>
          </a:solidFill>
        </p:spPr>
        <p:txBody>
          <a:bodyPr vert="horz" wrap="square" lIns="0" tIns="40005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315"/>
              </a:spcBef>
            </a:pPr>
            <a:r>
              <a:rPr sz="1000" b="1" spc="5" dirty="0">
                <a:solidFill>
                  <a:srgbClr val="FFFFFF"/>
                </a:solidFill>
                <a:latin typeface="Montserrat"/>
                <a:cs typeface="Montserrat"/>
              </a:rPr>
              <a:t>Tecnología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7001" y="3905999"/>
            <a:ext cx="1600200" cy="248285"/>
          </a:xfrm>
          <a:prstGeom prst="rect">
            <a:avLst/>
          </a:prstGeom>
          <a:solidFill>
            <a:srgbClr val="F78D2A"/>
          </a:solidFill>
        </p:spPr>
        <p:txBody>
          <a:bodyPr vert="horz" wrap="square" lIns="0" tIns="4000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315"/>
              </a:spcBef>
            </a:pPr>
            <a:r>
              <a:rPr sz="1000" b="1" spc="15" dirty="0">
                <a:solidFill>
                  <a:srgbClr val="FFFFFF"/>
                </a:solidFill>
                <a:latin typeface="Montserrat"/>
                <a:cs typeface="Montserrat"/>
              </a:rPr>
              <a:t>Business</a:t>
            </a:r>
            <a:r>
              <a:rPr sz="1000" b="1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Analytics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0998" y="2361603"/>
            <a:ext cx="2199005" cy="248285"/>
          </a:xfrm>
          <a:prstGeom prst="rect">
            <a:avLst/>
          </a:prstGeom>
          <a:solidFill>
            <a:srgbClr val="005DAC"/>
          </a:solidFill>
        </p:spPr>
        <p:txBody>
          <a:bodyPr vert="horz" wrap="square" lIns="0" tIns="4000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315"/>
              </a:spcBef>
            </a:pP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Organización </a:t>
            </a:r>
            <a:r>
              <a:rPr sz="1000" b="1" spc="15" dirty="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r>
              <a:rPr sz="1000" b="1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Estrategia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40998" y="3905999"/>
            <a:ext cx="2199005" cy="248285"/>
          </a:xfrm>
          <a:prstGeom prst="rect">
            <a:avLst/>
          </a:prstGeom>
          <a:solidFill>
            <a:srgbClr val="005DAC"/>
          </a:solidFill>
        </p:spPr>
        <p:txBody>
          <a:bodyPr vert="horz" wrap="square" lIns="0" tIns="4000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315"/>
              </a:spcBef>
            </a:pP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Cultura </a:t>
            </a:r>
            <a:r>
              <a:rPr sz="1000" b="1" spc="15" dirty="0">
                <a:solidFill>
                  <a:srgbClr val="FFFFFF"/>
                </a:solidFill>
                <a:latin typeface="Montserrat"/>
                <a:cs typeface="Montserrat"/>
              </a:rPr>
              <a:t>Orientada a</a:t>
            </a:r>
            <a:r>
              <a:rPr sz="1000" b="1" spc="-3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Datos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6794" y="2361603"/>
            <a:ext cx="2898140" cy="248285"/>
          </a:xfrm>
          <a:prstGeom prst="rect">
            <a:avLst/>
          </a:prstGeom>
          <a:solidFill>
            <a:srgbClr val="1C3C6E"/>
          </a:solidFill>
        </p:spPr>
        <p:txBody>
          <a:bodyPr vert="horz" wrap="square" lIns="0" tIns="40005" rIns="0" bIns="0" rtlCol="0">
            <a:spAutoFit/>
          </a:bodyPr>
          <a:lstStyle/>
          <a:p>
            <a:pPr marL="687070">
              <a:lnSpc>
                <a:spcPct val="100000"/>
              </a:lnSpc>
              <a:spcBef>
                <a:spcPts val="315"/>
              </a:spcBef>
            </a:pP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Transformación</a:t>
            </a:r>
            <a:r>
              <a:rPr sz="1000" b="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Digital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26794" y="3905999"/>
            <a:ext cx="2889250" cy="248285"/>
          </a:xfrm>
          <a:prstGeom prst="rect">
            <a:avLst/>
          </a:prstGeom>
          <a:solidFill>
            <a:srgbClr val="1C3C6E"/>
          </a:solidFill>
        </p:spPr>
        <p:txBody>
          <a:bodyPr vert="horz" wrap="square" lIns="0" tIns="4000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15"/>
              </a:spcBef>
            </a:pPr>
            <a:r>
              <a:rPr sz="1000" b="1" spc="15" dirty="0">
                <a:solidFill>
                  <a:srgbClr val="FFFFFF"/>
                </a:solidFill>
                <a:latin typeface="Montserrat"/>
                <a:cs typeface="Montserrat"/>
              </a:rPr>
              <a:t>Gestión </a:t>
            </a:r>
            <a:r>
              <a:rPr sz="1000" b="1" spc="10" dirty="0">
                <a:solidFill>
                  <a:srgbClr val="FFFFFF"/>
                </a:solidFill>
                <a:latin typeface="Montserrat"/>
                <a:cs typeface="Montserrat"/>
              </a:rPr>
              <a:t>del Conocimiento</a:t>
            </a:r>
            <a:r>
              <a:rPr sz="1000" b="1" spc="-2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b="1" spc="15" dirty="0">
                <a:solidFill>
                  <a:srgbClr val="FFFFFF"/>
                </a:solidFill>
                <a:latin typeface="Montserrat"/>
                <a:cs typeface="Montserrat"/>
              </a:rPr>
              <a:t>Empresarial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31299" y="433933"/>
            <a:ext cx="28282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</a:rPr>
              <a:t>Cultura </a:t>
            </a:r>
            <a:r>
              <a:rPr dirty="0">
                <a:solidFill>
                  <a:srgbClr val="FFFFFF"/>
                </a:solidFill>
              </a:rPr>
              <a:t>de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Datos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4500" y="1882438"/>
            <a:ext cx="234061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00"/>
              </a:spcBef>
            </a:pPr>
            <a:r>
              <a:rPr sz="1000" dirty="0">
                <a:latin typeface="Montserrat-Light"/>
                <a:cs typeface="Montserrat-Light"/>
              </a:rPr>
              <a:t>Una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b="1" dirty="0">
                <a:latin typeface="Montserrat"/>
                <a:cs typeface="Montserrat"/>
              </a:rPr>
              <a:t>Data</a:t>
            </a:r>
            <a:r>
              <a:rPr sz="1000" b="1" spc="-40" dirty="0">
                <a:latin typeface="Montserrat"/>
                <a:cs typeface="Montserrat"/>
              </a:rPr>
              <a:t> </a:t>
            </a:r>
            <a:r>
              <a:rPr sz="1000" b="1" spc="-5" dirty="0">
                <a:latin typeface="Montserrat"/>
                <a:cs typeface="Montserrat"/>
              </a:rPr>
              <a:t>Driven</a:t>
            </a:r>
            <a:r>
              <a:rPr sz="1000" b="1" spc="-40" dirty="0">
                <a:latin typeface="Montserrat"/>
                <a:cs typeface="Montserrat"/>
              </a:rPr>
              <a:t> </a:t>
            </a:r>
            <a:r>
              <a:rPr sz="1000" b="1" spc="-5" dirty="0">
                <a:latin typeface="Montserrat"/>
                <a:cs typeface="Montserrat"/>
              </a:rPr>
              <a:t>Company</a:t>
            </a:r>
            <a:r>
              <a:rPr sz="1000" b="1" spc="-40" dirty="0">
                <a:latin typeface="Montserrat"/>
                <a:cs typeface="Montserra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es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una</a:t>
            </a:r>
            <a:r>
              <a:rPr sz="1000" spc="-45" dirty="0">
                <a:latin typeface="Montserrat-Light"/>
                <a:cs typeface="Montserrat-Light"/>
              </a:rPr>
              <a:t> </a:t>
            </a:r>
            <a:r>
              <a:rPr sz="1000" spc="-5" dirty="0">
                <a:latin typeface="Montserrat-Light"/>
                <a:cs typeface="Montserrat-Light"/>
              </a:rPr>
              <a:t>or-  ganización </a:t>
            </a:r>
            <a:r>
              <a:rPr sz="1000" dirty="0">
                <a:latin typeface="Montserrat-Light"/>
                <a:cs typeface="Montserrat-Light"/>
              </a:rPr>
              <a:t>en la que </a:t>
            </a:r>
            <a:r>
              <a:rPr sz="1000" spc="-5" dirty="0">
                <a:latin typeface="Montserrat-Light"/>
                <a:cs typeface="Montserrat-Light"/>
              </a:rPr>
              <a:t>imperan </a:t>
            </a:r>
            <a:r>
              <a:rPr sz="1000" dirty="0">
                <a:latin typeface="Montserrat-Light"/>
                <a:cs typeface="Montserrat-Light"/>
              </a:rPr>
              <a:t>los </a:t>
            </a:r>
            <a:r>
              <a:rPr sz="1000" spc="-5" dirty="0">
                <a:latin typeface="Montserrat-Light"/>
                <a:cs typeface="Montserrat-Light"/>
              </a:rPr>
              <a:t>da-  tos, </a:t>
            </a:r>
            <a:r>
              <a:rPr sz="1000" dirty="0">
                <a:latin typeface="Montserrat-Light"/>
                <a:cs typeface="Montserrat-Light"/>
              </a:rPr>
              <a:t>está imbuida de una</a:t>
            </a:r>
            <a:r>
              <a:rPr sz="1000" spc="-130" dirty="0">
                <a:latin typeface="Montserrat-Light"/>
                <a:cs typeface="Montserrat-Light"/>
              </a:rPr>
              <a:t> </a:t>
            </a:r>
            <a:r>
              <a:rPr sz="1000" spc="-5" dirty="0">
                <a:latin typeface="Montserrat-Light"/>
                <a:cs typeface="Montserrat-Light"/>
              </a:rPr>
              <a:t>extraordina-  </a:t>
            </a:r>
            <a:r>
              <a:rPr sz="1000" dirty="0">
                <a:latin typeface="Montserrat-Light"/>
                <a:cs typeface="Montserrat-Light"/>
              </a:rPr>
              <a:t>ria </a:t>
            </a:r>
            <a:r>
              <a:rPr sz="1000" spc="-5" dirty="0">
                <a:latin typeface="Montserrat-Light"/>
                <a:cs typeface="Montserrat-Light"/>
              </a:rPr>
              <a:t>cultura </a:t>
            </a:r>
            <a:r>
              <a:rPr sz="1000" dirty="0">
                <a:latin typeface="Montserrat-Light"/>
                <a:cs typeface="Montserrat-Light"/>
              </a:rPr>
              <a:t>alrededor de ellos </a:t>
            </a:r>
            <a:r>
              <a:rPr sz="1000" spc="-5" dirty="0">
                <a:latin typeface="Montserrat-Light"/>
                <a:cs typeface="Montserrat-Light"/>
              </a:rPr>
              <a:t>(cultura  </a:t>
            </a:r>
            <a:r>
              <a:rPr sz="1000" dirty="0">
                <a:latin typeface="Montserrat-Light"/>
                <a:cs typeface="Montserrat-Light"/>
              </a:rPr>
              <a:t>Data </a:t>
            </a:r>
            <a:r>
              <a:rPr sz="1000" spc="-5" dirty="0">
                <a:latin typeface="Montserrat-Light"/>
                <a:cs typeface="Montserrat-Light"/>
              </a:rPr>
              <a:t>Driven) </a:t>
            </a:r>
            <a:r>
              <a:rPr sz="1000" dirty="0">
                <a:latin typeface="Montserrat-Light"/>
                <a:cs typeface="Montserrat-Light"/>
              </a:rPr>
              <a:t>y la </a:t>
            </a:r>
            <a:r>
              <a:rPr sz="1000" spc="-5" dirty="0">
                <a:latin typeface="Montserrat-Light"/>
                <a:cs typeface="Montserrat-Light"/>
              </a:rPr>
              <a:t>toma </a:t>
            </a:r>
            <a:r>
              <a:rPr sz="1000" dirty="0">
                <a:latin typeface="Montserrat-Light"/>
                <a:cs typeface="Montserrat-Light"/>
              </a:rPr>
              <a:t>de decisiones  está basada en el óptimo análisis de  esta </a:t>
            </a:r>
            <a:r>
              <a:rPr sz="1000" spc="-5" dirty="0">
                <a:latin typeface="Montserrat-Light"/>
                <a:cs typeface="Montserrat-Light"/>
              </a:rPr>
              <a:t>información. </a:t>
            </a:r>
            <a:r>
              <a:rPr sz="1000" dirty="0">
                <a:latin typeface="Montserrat-Light"/>
                <a:cs typeface="Montserrat-Light"/>
              </a:rPr>
              <a:t>Estas empresas</a:t>
            </a:r>
            <a:r>
              <a:rPr sz="1000" spc="-8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son  </a:t>
            </a:r>
            <a:r>
              <a:rPr sz="1000" spc="-5" dirty="0">
                <a:latin typeface="Montserrat-Light"/>
                <a:cs typeface="Montserrat-Light"/>
              </a:rPr>
              <a:t>conscientes </a:t>
            </a:r>
            <a:r>
              <a:rPr sz="1000" dirty="0">
                <a:latin typeface="Montserrat-Light"/>
                <a:cs typeface="Montserrat-Light"/>
              </a:rPr>
              <a:t>de que su </a:t>
            </a:r>
            <a:r>
              <a:rPr sz="1000" spc="-10" dirty="0">
                <a:latin typeface="Montserrat-Light"/>
                <a:cs typeface="Montserrat-Light"/>
              </a:rPr>
              <a:t>éxito</a:t>
            </a:r>
            <a:r>
              <a:rPr sz="1000" spc="-6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depende  de la </a:t>
            </a:r>
            <a:r>
              <a:rPr sz="1000" spc="-5" dirty="0">
                <a:latin typeface="Montserrat-Light"/>
                <a:cs typeface="Montserrat-Light"/>
              </a:rPr>
              <a:t>calidad </a:t>
            </a:r>
            <a:r>
              <a:rPr sz="1000" dirty="0">
                <a:latin typeface="Montserrat-Light"/>
                <a:cs typeface="Montserrat-Light"/>
              </a:rPr>
              <a:t>y la fiabilidad de sus</a:t>
            </a:r>
            <a:r>
              <a:rPr sz="1000" spc="-17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da-  </a:t>
            </a:r>
            <a:r>
              <a:rPr sz="1000" spc="-5" dirty="0">
                <a:latin typeface="Montserrat-Light"/>
                <a:cs typeface="Montserrat-Light"/>
              </a:rPr>
              <a:t>tos. </a:t>
            </a:r>
            <a:r>
              <a:rPr sz="1000" dirty="0">
                <a:latin typeface="Montserrat-Light"/>
                <a:cs typeface="Montserrat-Light"/>
              </a:rPr>
              <a:t>También han </a:t>
            </a:r>
            <a:r>
              <a:rPr sz="1000" spc="-5" dirty="0">
                <a:latin typeface="Montserrat-Light"/>
                <a:cs typeface="Montserrat-Light"/>
              </a:rPr>
              <a:t>comprendido </a:t>
            </a:r>
            <a:r>
              <a:rPr sz="1000" dirty="0">
                <a:latin typeface="Montserrat-Light"/>
                <a:cs typeface="Montserrat-Light"/>
              </a:rPr>
              <a:t>que  la </a:t>
            </a:r>
            <a:r>
              <a:rPr sz="1000" spc="-5" dirty="0">
                <a:latin typeface="Montserrat-Light"/>
                <a:cs typeface="Montserrat-Light"/>
              </a:rPr>
              <a:t>analítica </a:t>
            </a:r>
            <a:r>
              <a:rPr sz="1000" dirty="0">
                <a:latin typeface="Montserrat-Light"/>
                <a:cs typeface="Montserrat-Light"/>
              </a:rPr>
              <a:t>a la que sean sometidos  debe ser profunda y</a:t>
            </a:r>
            <a:r>
              <a:rPr sz="1000" spc="-15" dirty="0">
                <a:latin typeface="Montserrat-Light"/>
                <a:cs typeface="Montserrat-Light"/>
              </a:rPr>
              <a:t> </a:t>
            </a:r>
            <a:r>
              <a:rPr sz="1000" spc="-10" dirty="0">
                <a:latin typeface="Montserrat-Light"/>
                <a:cs typeface="Montserrat-Light"/>
              </a:rPr>
              <a:t>eficaz.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94802" y="5561558"/>
            <a:ext cx="2448560" cy="2724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60960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480"/>
              </a:spcBef>
            </a:pPr>
            <a:r>
              <a:rPr sz="1000" b="1" dirty="0">
                <a:solidFill>
                  <a:srgbClr val="F79423"/>
                </a:solidFill>
                <a:latin typeface="Montserrat"/>
                <a:cs typeface="Montserrat"/>
              </a:rPr>
              <a:t>ANÁLISIS </a:t>
            </a:r>
            <a:r>
              <a:rPr sz="1000" b="1" spc="-15" dirty="0">
                <a:solidFill>
                  <a:srgbClr val="F79423"/>
                </a:solidFill>
                <a:latin typeface="Montserrat"/>
                <a:cs typeface="Montserrat"/>
              </a:rPr>
              <a:t>ORIENTADO </a:t>
            </a:r>
            <a:r>
              <a:rPr sz="1000" b="1" dirty="0">
                <a:solidFill>
                  <a:srgbClr val="F79423"/>
                </a:solidFill>
                <a:latin typeface="Montserrat"/>
                <a:cs typeface="Montserrat"/>
              </a:rPr>
              <a:t>A </a:t>
            </a:r>
            <a:r>
              <a:rPr sz="1000" b="1" spc="-30" dirty="0">
                <a:solidFill>
                  <a:srgbClr val="F79423"/>
                </a:solidFill>
                <a:latin typeface="Montserrat"/>
                <a:cs typeface="Montserrat"/>
              </a:rPr>
              <a:t>DATOS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8391" y="5889192"/>
            <a:ext cx="57340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650" b="1" spc="-15" dirty="0">
                <a:solidFill>
                  <a:srgbClr val="1C3C6E"/>
                </a:solidFill>
                <a:latin typeface="Kiona"/>
                <a:cs typeface="Kiona"/>
              </a:rPr>
              <a:t>“EL </a:t>
            </a:r>
            <a:r>
              <a:rPr sz="1650" b="1" spc="10" dirty="0">
                <a:solidFill>
                  <a:srgbClr val="1C3C6E"/>
                </a:solidFill>
                <a:latin typeface="Kiona"/>
                <a:cs typeface="Kiona"/>
              </a:rPr>
              <a:t>NEGOCIO </a:t>
            </a:r>
            <a:r>
              <a:rPr sz="1650" b="1" spc="-10" dirty="0">
                <a:solidFill>
                  <a:srgbClr val="1C3C6E"/>
                </a:solidFill>
                <a:latin typeface="Kiona"/>
                <a:cs typeface="Kiona"/>
              </a:rPr>
              <a:t>DEJA </a:t>
            </a:r>
            <a:r>
              <a:rPr sz="1650" b="1" spc="5" dirty="0">
                <a:solidFill>
                  <a:srgbClr val="1C3C6E"/>
                </a:solidFill>
                <a:latin typeface="Kiona"/>
                <a:cs typeface="Kiona"/>
              </a:rPr>
              <a:t>DE </a:t>
            </a:r>
            <a:r>
              <a:rPr sz="1650" b="1" spc="-5" dirty="0">
                <a:solidFill>
                  <a:srgbClr val="1C3C6E"/>
                </a:solidFill>
                <a:latin typeface="Kiona"/>
                <a:cs typeface="Kiona"/>
              </a:rPr>
              <a:t>SER INTUITIVO </a:t>
            </a:r>
            <a:r>
              <a:rPr sz="1650" b="1" spc="-40" dirty="0">
                <a:solidFill>
                  <a:srgbClr val="1C3C6E"/>
                </a:solidFill>
                <a:latin typeface="Kiona"/>
                <a:cs typeface="Kiona"/>
              </a:rPr>
              <a:t>PARA </a:t>
            </a:r>
            <a:r>
              <a:rPr sz="1650" b="1" spc="-15" dirty="0">
                <a:solidFill>
                  <a:srgbClr val="1C3C6E"/>
                </a:solidFill>
                <a:latin typeface="Kiona"/>
                <a:cs typeface="Kiona"/>
              </a:rPr>
              <a:t>BASARSE</a:t>
            </a:r>
            <a:r>
              <a:rPr sz="1650" b="1" spc="195" dirty="0">
                <a:solidFill>
                  <a:srgbClr val="1C3C6E"/>
                </a:solidFill>
                <a:latin typeface="Kiona"/>
                <a:cs typeface="Kiona"/>
              </a:rPr>
              <a:t> </a:t>
            </a:r>
            <a:r>
              <a:rPr sz="1650" b="1" spc="-5" dirty="0">
                <a:solidFill>
                  <a:srgbClr val="1C3C6E"/>
                </a:solidFill>
                <a:latin typeface="Kiona"/>
                <a:cs typeface="Kiona"/>
              </a:rPr>
              <a:t>EN</a:t>
            </a:r>
            <a:endParaRPr sz="1650">
              <a:latin typeface="Kiona"/>
              <a:cs typeface="Kiona"/>
            </a:endParaRPr>
          </a:p>
          <a:p>
            <a:pPr marR="5080" algn="r">
              <a:lnSpc>
                <a:spcPct val="100000"/>
              </a:lnSpc>
            </a:pPr>
            <a:r>
              <a:rPr sz="1650" b="1" dirty="0">
                <a:solidFill>
                  <a:srgbClr val="1C3C6E"/>
                </a:solidFill>
                <a:latin typeface="Kiona"/>
                <a:cs typeface="Kiona"/>
              </a:rPr>
              <a:t>INFORMACIÓN </a:t>
            </a:r>
            <a:r>
              <a:rPr sz="1650" b="1" spc="5" dirty="0">
                <a:solidFill>
                  <a:srgbClr val="1C3C6E"/>
                </a:solidFill>
                <a:latin typeface="Kiona"/>
                <a:cs typeface="Kiona"/>
              </a:rPr>
              <a:t>FIABLE </a:t>
            </a:r>
            <a:r>
              <a:rPr sz="1650" b="1" dirty="0">
                <a:solidFill>
                  <a:srgbClr val="1C3C6E"/>
                </a:solidFill>
                <a:latin typeface="Kiona"/>
                <a:cs typeface="Kiona"/>
              </a:rPr>
              <a:t>Y </a:t>
            </a:r>
            <a:r>
              <a:rPr sz="1650" b="1" spc="5" dirty="0">
                <a:solidFill>
                  <a:srgbClr val="1C3C6E"/>
                </a:solidFill>
                <a:latin typeface="Kiona"/>
                <a:cs typeface="Kiona"/>
              </a:rPr>
              <a:t>DE </a:t>
            </a:r>
            <a:r>
              <a:rPr sz="1650" b="1" spc="-10" dirty="0">
                <a:solidFill>
                  <a:srgbClr val="1C3C6E"/>
                </a:solidFill>
                <a:latin typeface="Kiona"/>
                <a:cs typeface="Kiona"/>
              </a:rPr>
              <a:t>CALIDAD”</a:t>
            </a:r>
            <a:endParaRPr sz="1650">
              <a:latin typeface="Kiona"/>
              <a:cs typeface="Kio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38299" y="1908039"/>
            <a:ext cx="364109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C3C6E"/>
                </a:solidFill>
                <a:latin typeface="Kiona"/>
                <a:cs typeface="Kiona"/>
              </a:rPr>
              <a:t>universo </a:t>
            </a:r>
            <a:r>
              <a:rPr sz="1650" spc="5" dirty="0">
                <a:solidFill>
                  <a:srgbClr val="1C3C6E"/>
                </a:solidFill>
                <a:latin typeface="Kiona"/>
                <a:cs typeface="Kiona"/>
              </a:rPr>
              <a:t>de </a:t>
            </a:r>
            <a:r>
              <a:rPr sz="1650" spc="-50" dirty="0">
                <a:solidFill>
                  <a:srgbClr val="1C3C6E"/>
                </a:solidFill>
                <a:latin typeface="Kiona"/>
                <a:cs typeface="Kiona"/>
              </a:rPr>
              <a:t>datos</a:t>
            </a:r>
            <a:r>
              <a:rPr sz="1650" spc="-65" dirty="0">
                <a:solidFill>
                  <a:srgbClr val="1C3C6E"/>
                </a:solidFill>
                <a:latin typeface="Kiona"/>
                <a:cs typeface="Kiona"/>
              </a:rPr>
              <a:t> </a:t>
            </a:r>
            <a:r>
              <a:rPr sz="1650" b="1" dirty="0">
                <a:solidFill>
                  <a:srgbClr val="1C3C6E"/>
                </a:solidFill>
                <a:latin typeface="Kiona"/>
                <a:cs typeface="Kiona"/>
              </a:rPr>
              <a:t>inteligentes</a:t>
            </a:r>
            <a:endParaRPr sz="1650">
              <a:latin typeface="Kiona"/>
              <a:cs typeface="Kio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07994" y="133199"/>
            <a:ext cx="1037463" cy="1111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65299" y="2731838"/>
            <a:ext cx="1579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Montserrat-Light"/>
                <a:cs typeface="Montserrat-Light"/>
              </a:rPr>
              <a:t>Abierta, </a:t>
            </a:r>
            <a:r>
              <a:rPr sz="1000" spc="-5" dirty="0">
                <a:latin typeface="Montserrat-Light"/>
                <a:cs typeface="Montserrat-Light"/>
              </a:rPr>
              <a:t>flexible, </a:t>
            </a:r>
            <a:r>
              <a:rPr sz="1000" dirty="0">
                <a:latin typeface="Montserrat-Light"/>
                <a:cs typeface="Montserrat-Light"/>
              </a:rPr>
              <a:t>híbrida,  </a:t>
            </a:r>
            <a:r>
              <a:rPr sz="1000" spc="-5" dirty="0">
                <a:latin typeface="Montserrat-Light"/>
                <a:cs typeface="Montserrat-Light"/>
              </a:rPr>
              <a:t>escalable </a:t>
            </a:r>
            <a:r>
              <a:rPr sz="1000" dirty="0">
                <a:latin typeface="Montserrat-Light"/>
                <a:cs typeface="Montserrat-Light"/>
              </a:rPr>
              <a:t>y orientada a</a:t>
            </a:r>
            <a:r>
              <a:rPr sz="1000" spc="-16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la  </a:t>
            </a:r>
            <a:r>
              <a:rPr sz="1000" spc="-5" dirty="0">
                <a:latin typeface="Montserrat-Light"/>
                <a:cs typeface="Montserrat-Light"/>
              </a:rPr>
              <a:t>movilidad.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5299" y="3341438"/>
            <a:ext cx="13792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Montserrat-Light"/>
                <a:cs typeface="Montserrat-Light"/>
              </a:rPr>
              <a:t>(Hardware </a:t>
            </a:r>
            <a:r>
              <a:rPr sz="1000" dirty="0">
                <a:latin typeface="Montserrat-Light"/>
                <a:cs typeface="Montserrat-Light"/>
              </a:rPr>
              <a:t>y</a:t>
            </a:r>
            <a:r>
              <a:rPr sz="1000" spc="-30" dirty="0">
                <a:latin typeface="Montserrat-Light"/>
                <a:cs typeface="Montserrat-Light"/>
              </a:rPr>
              <a:t> </a:t>
            </a:r>
            <a:r>
              <a:rPr sz="1000" spc="-5" dirty="0">
                <a:latin typeface="Montserrat-Light"/>
                <a:cs typeface="Montserrat-Light"/>
              </a:rPr>
              <a:t>software)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55299" y="2731838"/>
            <a:ext cx="20510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Montserrat-Light"/>
                <a:cs typeface="Montserrat-Light"/>
              </a:rPr>
              <a:t>Decisiones basadas en los </a:t>
            </a:r>
            <a:r>
              <a:rPr sz="1000" spc="-5" dirty="0">
                <a:latin typeface="Montserrat-Light"/>
                <a:cs typeface="Montserrat-Light"/>
              </a:rPr>
              <a:t>datos  </a:t>
            </a:r>
            <a:r>
              <a:rPr sz="1000" dirty="0">
                <a:latin typeface="Montserrat-Light"/>
                <a:cs typeface="Montserrat-Light"/>
              </a:rPr>
              <a:t>en la que </a:t>
            </a:r>
            <a:r>
              <a:rPr sz="1000" spc="-5" dirty="0">
                <a:latin typeface="Montserrat-Light"/>
                <a:cs typeface="Montserrat-Light"/>
              </a:rPr>
              <a:t>organización </a:t>
            </a:r>
            <a:r>
              <a:rPr sz="1000" dirty="0">
                <a:latin typeface="Montserrat-Light"/>
                <a:cs typeface="Montserrat-Light"/>
              </a:rPr>
              <a:t>participa  </a:t>
            </a:r>
            <a:r>
              <a:rPr sz="1000" spc="-5" dirty="0">
                <a:latin typeface="Montserrat-Light"/>
                <a:cs typeface="Montserrat-Light"/>
              </a:rPr>
              <a:t>activamente </a:t>
            </a:r>
            <a:r>
              <a:rPr sz="1000" dirty="0">
                <a:latin typeface="Montserrat-Light"/>
                <a:cs typeface="Montserrat-Light"/>
              </a:rPr>
              <a:t>y es </a:t>
            </a:r>
            <a:r>
              <a:rPr sz="1000" spc="-5" dirty="0">
                <a:latin typeface="Montserrat-Light"/>
                <a:cs typeface="Montserrat-Light"/>
              </a:rPr>
              <a:t>consciente </a:t>
            </a:r>
            <a:r>
              <a:rPr sz="1000" dirty="0">
                <a:latin typeface="Montserrat-Light"/>
                <a:cs typeface="Montserrat-Light"/>
              </a:rPr>
              <a:t>de  la importancia de los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mismos.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55299" y="4294238"/>
            <a:ext cx="218567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Montserrat-Light"/>
                <a:cs typeface="Montserrat-Light"/>
              </a:rPr>
              <a:t>La </a:t>
            </a:r>
            <a:r>
              <a:rPr sz="1000" spc="-5" dirty="0">
                <a:latin typeface="Montserrat-Light"/>
                <a:cs typeface="Montserrat-Light"/>
              </a:rPr>
              <a:t>cultura </a:t>
            </a:r>
            <a:r>
              <a:rPr sz="1000" dirty="0">
                <a:latin typeface="Montserrat-Light"/>
                <a:cs typeface="Montserrat-Light"/>
              </a:rPr>
              <a:t>data </a:t>
            </a:r>
            <a:r>
              <a:rPr sz="1000" spc="-5" dirty="0">
                <a:latin typeface="Montserrat-Light"/>
                <a:cs typeface="Montserrat-Light"/>
              </a:rPr>
              <a:t>Driven, </a:t>
            </a:r>
            <a:r>
              <a:rPr sz="1000" dirty="0">
                <a:latin typeface="Montserrat-Light"/>
                <a:cs typeface="Montserrat-Light"/>
              </a:rPr>
              <a:t>o </a:t>
            </a:r>
            <a:r>
              <a:rPr sz="1000" spc="-5" dirty="0">
                <a:latin typeface="Montserrat-Light"/>
                <a:cs typeface="Montserrat-Light"/>
              </a:rPr>
              <a:t>cultura  </a:t>
            </a:r>
            <a:r>
              <a:rPr sz="1000" dirty="0">
                <a:latin typeface="Montserrat-Light"/>
                <a:cs typeface="Montserrat-Light"/>
              </a:rPr>
              <a:t>orientada a </a:t>
            </a:r>
            <a:r>
              <a:rPr sz="1000" spc="-5" dirty="0">
                <a:latin typeface="Montserrat-Light"/>
                <a:cs typeface="Montserrat-Light"/>
              </a:rPr>
              <a:t>datos, </a:t>
            </a:r>
            <a:r>
              <a:rPr sz="1000" spc="-10" dirty="0">
                <a:latin typeface="Montserrat-Light"/>
                <a:cs typeface="Montserrat-Light"/>
              </a:rPr>
              <a:t>existe </a:t>
            </a:r>
            <a:r>
              <a:rPr sz="1000" dirty="0">
                <a:latin typeface="Montserrat-Light"/>
                <a:cs typeface="Montserrat-Light"/>
              </a:rPr>
              <a:t>cuando  una empresa </a:t>
            </a:r>
            <a:r>
              <a:rPr sz="1000" spc="-5" dirty="0">
                <a:latin typeface="Montserrat-Light"/>
                <a:cs typeface="Montserrat-Light"/>
              </a:rPr>
              <a:t>organiza </a:t>
            </a:r>
            <a:r>
              <a:rPr sz="1000" dirty="0">
                <a:latin typeface="Montserrat-Light"/>
                <a:cs typeface="Montserrat-Light"/>
              </a:rPr>
              <a:t>sus </a:t>
            </a:r>
            <a:r>
              <a:rPr sz="1000" spc="-5" dirty="0">
                <a:latin typeface="Montserrat-Light"/>
                <a:cs typeface="Montserrat-Light"/>
              </a:rPr>
              <a:t>proce-  </a:t>
            </a:r>
            <a:r>
              <a:rPr sz="1000" dirty="0">
                <a:latin typeface="Montserrat-Light"/>
                <a:cs typeface="Montserrat-Light"/>
              </a:rPr>
              <a:t>sos y </a:t>
            </a:r>
            <a:r>
              <a:rPr sz="1000" spc="-5" dirty="0">
                <a:latin typeface="Montserrat-Light"/>
                <a:cs typeface="Montserrat-Light"/>
              </a:rPr>
              <a:t>métricas </a:t>
            </a:r>
            <a:r>
              <a:rPr sz="1000" spc="-10" dirty="0">
                <a:latin typeface="Montserrat-Light"/>
                <a:cs typeface="Montserrat-Light"/>
              </a:rPr>
              <a:t>con </a:t>
            </a:r>
            <a:r>
              <a:rPr sz="1000" dirty="0">
                <a:latin typeface="Montserrat-Light"/>
                <a:cs typeface="Montserrat-Light"/>
              </a:rPr>
              <a:t>base en </a:t>
            </a:r>
            <a:r>
              <a:rPr sz="1000" spc="-5" dirty="0">
                <a:latin typeface="Montserrat-Light"/>
                <a:cs typeface="Montserrat-Light"/>
              </a:rPr>
              <a:t>datos  </a:t>
            </a:r>
            <a:r>
              <a:rPr sz="1000" dirty="0">
                <a:latin typeface="Montserrat-Light"/>
                <a:cs typeface="Montserrat-Light"/>
              </a:rPr>
              <a:t>reales,</a:t>
            </a:r>
            <a:r>
              <a:rPr sz="1000" spc="-75" dirty="0">
                <a:latin typeface="Montserrat-Light"/>
                <a:cs typeface="Montserrat-Light"/>
              </a:rPr>
              <a:t> </a:t>
            </a:r>
            <a:r>
              <a:rPr sz="1000" spc="-5" dirty="0">
                <a:latin typeface="Montserrat-Light"/>
                <a:cs typeface="Montserrat-Light"/>
              </a:rPr>
              <a:t>escapando</a:t>
            </a:r>
            <a:r>
              <a:rPr sz="1000" spc="-7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así</a:t>
            </a:r>
            <a:r>
              <a:rPr sz="1000" spc="-7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de</a:t>
            </a:r>
            <a:r>
              <a:rPr sz="1000" spc="-7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decisiones  basadas en la intuición, </a:t>
            </a:r>
            <a:r>
              <a:rPr sz="1000" spc="-5" dirty="0">
                <a:latin typeface="Montserrat-Light"/>
                <a:cs typeface="Montserrat-Light"/>
              </a:rPr>
              <a:t>instinto,  </a:t>
            </a:r>
            <a:r>
              <a:rPr sz="1000" dirty="0">
                <a:latin typeface="Montserrat-Light"/>
                <a:cs typeface="Montserrat-Light"/>
              </a:rPr>
              <a:t>ejemplos pasados y</a:t>
            </a:r>
            <a:r>
              <a:rPr sz="1000" spc="-3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creencias.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05099" y="2731838"/>
            <a:ext cx="28968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Montserrat-Light"/>
                <a:cs typeface="Montserrat-Light"/>
              </a:rPr>
              <a:t>La </a:t>
            </a:r>
            <a:r>
              <a:rPr sz="1000" spc="-10" dirty="0">
                <a:latin typeface="Montserrat-Light"/>
                <a:cs typeface="Montserrat-Light"/>
              </a:rPr>
              <a:t>Transformación </a:t>
            </a:r>
            <a:r>
              <a:rPr sz="1000" dirty="0">
                <a:latin typeface="Montserrat-Light"/>
                <a:cs typeface="Montserrat-Light"/>
              </a:rPr>
              <a:t>Digital es el </a:t>
            </a:r>
            <a:r>
              <a:rPr sz="1000" spc="-5" dirty="0">
                <a:latin typeface="Montserrat-Light"/>
                <a:cs typeface="Montserrat-Light"/>
              </a:rPr>
              <a:t>proceso </a:t>
            </a:r>
            <a:r>
              <a:rPr sz="1000" dirty="0">
                <a:latin typeface="Montserrat-Light"/>
                <a:cs typeface="Montserrat-Light"/>
              </a:rPr>
              <a:t>por el  cual las </a:t>
            </a:r>
            <a:r>
              <a:rPr sz="1000" spc="-5" dirty="0">
                <a:latin typeface="Montserrat-Light"/>
                <a:cs typeface="Montserrat-Light"/>
              </a:rPr>
              <a:t>organizaciones </a:t>
            </a:r>
            <a:r>
              <a:rPr sz="1000" dirty="0">
                <a:latin typeface="Montserrat-Light"/>
                <a:cs typeface="Montserrat-Light"/>
              </a:rPr>
              <a:t>o empresas </a:t>
            </a:r>
            <a:r>
              <a:rPr sz="1000" spc="-5" dirty="0">
                <a:latin typeface="Montserrat-Light"/>
                <a:cs typeface="Montserrat-Light"/>
              </a:rPr>
              <a:t>reorgani- </a:t>
            </a:r>
            <a:r>
              <a:rPr sz="1000" spc="260" dirty="0">
                <a:latin typeface="Montserrat-Light"/>
                <a:cs typeface="Montserrat-Light"/>
              </a:rPr>
              <a:t> </a:t>
            </a:r>
            <a:r>
              <a:rPr sz="1000" spc="-5" dirty="0">
                <a:latin typeface="Montserrat-Light"/>
                <a:cs typeface="Montserrat-Light"/>
              </a:rPr>
              <a:t>zan </a:t>
            </a:r>
            <a:r>
              <a:rPr sz="1000" dirty="0">
                <a:latin typeface="Montserrat-Light"/>
                <a:cs typeface="Montserrat-Light"/>
              </a:rPr>
              <a:t>sus </a:t>
            </a:r>
            <a:r>
              <a:rPr sz="1000" spc="-5" dirty="0">
                <a:latin typeface="Montserrat-Light"/>
                <a:cs typeface="Montserrat-Light"/>
              </a:rPr>
              <a:t>métodos </a:t>
            </a:r>
            <a:r>
              <a:rPr sz="1000" dirty="0">
                <a:latin typeface="Montserrat-Light"/>
                <a:cs typeface="Montserrat-Light"/>
              </a:rPr>
              <a:t>de </a:t>
            </a:r>
            <a:r>
              <a:rPr sz="1000" spc="-5" dirty="0">
                <a:latin typeface="Montserrat-Light"/>
                <a:cs typeface="Montserrat-Light"/>
              </a:rPr>
              <a:t>trabajo </a:t>
            </a:r>
            <a:r>
              <a:rPr sz="1000" dirty="0">
                <a:latin typeface="Montserrat-Light"/>
                <a:cs typeface="Montserrat-Light"/>
              </a:rPr>
              <a:t>y </a:t>
            </a:r>
            <a:r>
              <a:rPr sz="1000" spc="-5" dirty="0">
                <a:latin typeface="Montserrat-Light"/>
                <a:cs typeface="Montserrat-Light"/>
              </a:rPr>
              <a:t>estrategias </a:t>
            </a:r>
            <a:r>
              <a:rPr sz="1000" dirty="0">
                <a:latin typeface="Montserrat-Light"/>
                <a:cs typeface="Montserrat-Light"/>
              </a:rPr>
              <a:t>en  </a:t>
            </a:r>
            <a:r>
              <a:rPr sz="1000" spc="-5" dirty="0">
                <a:latin typeface="Montserrat-Light"/>
                <a:cs typeface="Montserrat-Light"/>
              </a:rPr>
              <a:t>general, </a:t>
            </a:r>
            <a:r>
              <a:rPr sz="1000" spc="-10" dirty="0">
                <a:latin typeface="Montserrat-Light"/>
                <a:cs typeface="Montserrat-Light"/>
              </a:rPr>
              <a:t>para </a:t>
            </a:r>
            <a:r>
              <a:rPr sz="1000" spc="-5" dirty="0">
                <a:latin typeface="Montserrat-Light"/>
                <a:cs typeface="Montserrat-Light"/>
              </a:rPr>
              <a:t>obtener </a:t>
            </a:r>
            <a:r>
              <a:rPr sz="1000" dirty="0">
                <a:latin typeface="Montserrat-Light"/>
                <a:cs typeface="Montserrat-Light"/>
              </a:rPr>
              <a:t>más </a:t>
            </a:r>
            <a:r>
              <a:rPr sz="1000" spc="-5" dirty="0">
                <a:latin typeface="Montserrat-Light"/>
                <a:cs typeface="Montserrat-Light"/>
              </a:rPr>
              <a:t>beneficios gracias </a:t>
            </a:r>
            <a:r>
              <a:rPr sz="1000" dirty="0">
                <a:latin typeface="Montserrat-Light"/>
                <a:cs typeface="Montserrat-Light"/>
              </a:rPr>
              <a:t>a  la </a:t>
            </a:r>
            <a:r>
              <a:rPr sz="1000" spc="-5" dirty="0">
                <a:latin typeface="Montserrat-Light"/>
                <a:cs typeface="Montserrat-Light"/>
              </a:rPr>
              <a:t>digitalización </a:t>
            </a:r>
            <a:r>
              <a:rPr sz="1000" dirty="0">
                <a:latin typeface="Montserrat-Light"/>
                <a:cs typeface="Montserrat-Light"/>
              </a:rPr>
              <a:t>de </a:t>
            </a:r>
            <a:r>
              <a:rPr sz="1000" spc="-5" dirty="0">
                <a:latin typeface="Montserrat-Light"/>
                <a:cs typeface="Montserrat-Light"/>
              </a:rPr>
              <a:t>procesos </a:t>
            </a:r>
            <a:r>
              <a:rPr sz="1000" dirty="0">
                <a:latin typeface="Montserrat-Light"/>
                <a:cs typeface="Montserrat-Light"/>
              </a:rPr>
              <a:t>y a la </a:t>
            </a:r>
            <a:r>
              <a:rPr sz="1000" spc="-5" dirty="0">
                <a:latin typeface="Montserrat-Light"/>
                <a:cs typeface="Montserrat-Light"/>
              </a:rPr>
              <a:t>implemen-  </a:t>
            </a:r>
            <a:r>
              <a:rPr sz="1000" dirty="0">
                <a:latin typeface="Montserrat-Light"/>
                <a:cs typeface="Montserrat-Light"/>
              </a:rPr>
              <a:t>tación </a:t>
            </a:r>
            <a:r>
              <a:rPr sz="1000" spc="-5" dirty="0">
                <a:latin typeface="Montserrat-Light"/>
                <a:cs typeface="Montserrat-Light"/>
              </a:rPr>
              <a:t>dinámica </a:t>
            </a:r>
            <a:r>
              <a:rPr sz="1000" dirty="0">
                <a:latin typeface="Montserrat-Light"/>
                <a:cs typeface="Montserrat-Light"/>
              </a:rPr>
              <a:t>de las </a:t>
            </a:r>
            <a:r>
              <a:rPr sz="1000" spc="-10" dirty="0">
                <a:latin typeface="Montserrat-Light"/>
                <a:cs typeface="Montserrat-Light"/>
              </a:rPr>
              <a:t>nuevas</a:t>
            </a:r>
            <a:r>
              <a:rPr sz="1000" spc="-5" dirty="0">
                <a:latin typeface="Montserrat-Light"/>
                <a:cs typeface="Montserrat-Light"/>
              </a:rPr>
              <a:t> tecnologías.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01299" y="4294238"/>
            <a:ext cx="1628139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Montserrat-Light"/>
                <a:cs typeface="Montserrat-Light"/>
              </a:rPr>
              <a:t>se </a:t>
            </a:r>
            <a:r>
              <a:rPr sz="1000" spc="-25" dirty="0">
                <a:latin typeface="Montserrat-Light"/>
                <a:cs typeface="Montserrat-Light"/>
              </a:rPr>
              <a:t>enfoca </a:t>
            </a:r>
            <a:r>
              <a:rPr sz="1000" spc="-10" dirty="0">
                <a:latin typeface="Montserrat-Light"/>
                <a:cs typeface="Montserrat-Light"/>
              </a:rPr>
              <a:t>en el </a:t>
            </a:r>
            <a:r>
              <a:rPr sz="1000" spc="-20" dirty="0">
                <a:latin typeface="Montserrat-Light"/>
                <a:cs typeface="Montserrat-Light"/>
              </a:rPr>
              <a:t>análisis </a:t>
            </a:r>
            <a:r>
              <a:rPr sz="1000" dirty="0">
                <a:latin typeface="Montserrat-Light"/>
                <a:cs typeface="Montserrat-Light"/>
              </a:rPr>
              <a:t>a  </a:t>
            </a:r>
            <a:r>
              <a:rPr sz="1000" spc="-20" dirty="0">
                <a:latin typeface="Montserrat-Light"/>
                <a:cs typeface="Montserrat-Light"/>
              </a:rPr>
              <a:t>futuro </a:t>
            </a:r>
            <a:r>
              <a:rPr sz="1000" spc="-25" dirty="0">
                <a:latin typeface="Montserrat-Light"/>
                <a:cs typeface="Montserrat-Light"/>
              </a:rPr>
              <a:t>con </a:t>
            </a:r>
            <a:r>
              <a:rPr sz="1000" spc="-15" dirty="0">
                <a:latin typeface="Montserrat-Light"/>
                <a:cs typeface="Montserrat-Light"/>
              </a:rPr>
              <a:t>base </a:t>
            </a:r>
            <a:r>
              <a:rPr sz="1000" spc="-10" dirty="0">
                <a:latin typeface="Montserrat-Light"/>
                <a:cs typeface="Montserrat-Light"/>
              </a:rPr>
              <a:t>en la </a:t>
            </a:r>
            <a:r>
              <a:rPr sz="1000" spc="-15" dirty="0">
                <a:latin typeface="Montserrat-Light"/>
                <a:cs typeface="Montserrat-Light"/>
              </a:rPr>
              <a:t>in-  </a:t>
            </a:r>
            <a:r>
              <a:rPr sz="1000" spc="-20" dirty="0">
                <a:latin typeface="Montserrat-Light"/>
                <a:cs typeface="Montserrat-Light"/>
              </a:rPr>
              <a:t>formación </a:t>
            </a:r>
            <a:r>
              <a:rPr sz="1000" spc="-10" dirty="0">
                <a:latin typeface="Montserrat-Light"/>
                <a:cs typeface="Montserrat-Light"/>
              </a:rPr>
              <a:t>de la </a:t>
            </a:r>
            <a:r>
              <a:rPr sz="1000" spc="-20" dirty="0">
                <a:latin typeface="Montserrat-Light"/>
                <a:cs typeface="Montserrat-Light"/>
              </a:rPr>
              <a:t>empresa  </a:t>
            </a:r>
            <a:r>
              <a:rPr sz="1000" dirty="0">
                <a:latin typeface="Montserrat-Light"/>
                <a:cs typeface="Montserrat-Light"/>
              </a:rPr>
              <a:t>y </a:t>
            </a:r>
            <a:r>
              <a:rPr sz="1000" spc="-20" dirty="0">
                <a:latin typeface="Montserrat-Light"/>
                <a:cs typeface="Montserrat-Light"/>
              </a:rPr>
              <a:t>modelos predictivos que  </a:t>
            </a:r>
            <a:r>
              <a:rPr sz="1000" spc="-25" dirty="0">
                <a:latin typeface="Montserrat-Light"/>
                <a:cs typeface="Montserrat-Light"/>
              </a:rPr>
              <a:t>apoyan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spc="-10" dirty="0">
                <a:latin typeface="Montserrat-Light"/>
                <a:cs typeface="Montserrat-Light"/>
              </a:rPr>
              <a:t>la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spc="-20" dirty="0">
                <a:latin typeface="Montserrat-Light"/>
                <a:cs typeface="Montserrat-Light"/>
              </a:rPr>
              <a:t>toma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spc="-10" dirty="0">
                <a:latin typeface="Montserrat-Light"/>
                <a:cs typeface="Montserrat-Light"/>
              </a:rPr>
              <a:t>de</a:t>
            </a:r>
            <a:r>
              <a:rPr sz="1000" spc="-80" dirty="0">
                <a:latin typeface="Montserrat-Light"/>
                <a:cs typeface="Montserrat-Light"/>
              </a:rPr>
              <a:t> </a:t>
            </a:r>
            <a:r>
              <a:rPr sz="1000" spc="-20" dirty="0">
                <a:latin typeface="Montserrat-Light"/>
                <a:cs typeface="Montserrat-Light"/>
              </a:rPr>
              <a:t>decisio-  </a:t>
            </a:r>
            <a:r>
              <a:rPr sz="1000" spc="-15" dirty="0">
                <a:latin typeface="Montserrat-Light"/>
                <a:cs typeface="Montserrat-Light"/>
              </a:rPr>
              <a:t>nes </a:t>
            </a:r>
            <a:r>
              <a:rPr sz="1000" dirty="0">
                <a:latin typeface="Montserrat-Light"/>
                <a:cs typeface="Montserrat-Light"/>
              </a:rPr>
              <a:t>y </a:t>
            </a:r>
            <a:r>
              <a:rPr sz="1000" spc="-25" dirty="0">
                <a:latin typeface="Montserrat-Light"/>
                <a:cs typeface="Montserrat-Light"/>
              </a:rPr>
              <a:t>mejorar </a:t>
            </a:r>
            <a:r>
              <a:rPr sz="1000" spc="-10" dirty="0">
                <a:latin typeface="Montserrat-Light"/>
                <a:cs typeface="Montserrat-Light"/>
              </a:rPr>
              <a:t>la</a:t>
            </a:r>
            <a:r>
              <a:rPr sz="1000" spc="-120" dirty="0">
                <a:latin typeface="Montserrat-Light"/>
                <a:cs typeface="Montserrat-Light"/>
              </a:rPr>
              <a:t> </a:t>
            </a:r>
            <a:r>
              <a:rPr sz="1000" spc="-25" dirty="0">
                <a:latin typeface="Montserrat-Light"/>
                <a:cs typeface="Montserrat-Light"/>
              </a:rPr>
              <a:t>competiti-  </a:t>
            </a:r>
            <a:r>
              <a:rPr sz="1000" spc="-20" dirty="0">
                <a:latin typeface="Montserrat-Light"/>
                <a:cs typeface="Montserrat-Light"/>
              </a:rPr>
              <a:t>vidad </a:t>
            </a:r>
            <a:r>
              <a:rPr sz="1000" spc="-15" dirty="0">
                <a:latin typeface="Montserrat-Light"/>
                <a:cs typeface="Montserrat-Light"/>
              </a:rPr>
              <a:t>del</a:t>
            </a:r>
            <a:r>
              <a:rPr sz="1000" spc="-70" dirty="0">
                <a:latin typeface="Montserrat-Light"/>
                <a:cs typeface="Montserrat-Light"/>
              </a:rPr>
              <a:t> </a:t>
            </a:r>
            <a:r>
              <a:rPr sz="1000" spc="-20" dirty="0">
                <a:latin typeface="Montserrat-Light"/>
                <a:cs typeface="Montserrat-Light"/>
              </a:rPr>
              <a:t>negocio.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32099" y="4294238"/>
            <a:ext cx="29241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Montserrat-Light"/>
                <a:cs typeface="Montserrat-Light"/>
              </a:rPr>
              <a:t>Business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-5" dirty="0">
                <a:latin typeface="Montserrat-Light"/>
                <a:cs typeface="Montserrat-Light"/>
              </a:rPr>
              <a:t>Intelligence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(BI)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-10" dirty="0">
                <a:latin typeface="Montserrat-Light"/>
                <a:cs typeface="Montserrat-Light"/>
              </a:rPr>
              <a:t>hace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spc="-5" dirty="0">
                <a:latin typeface="Montserrat-Light"/>
                <a:cs typeface="Montserrat-Light"/>
              </a:rPr>
              <a:t>referencia</a:t>
            </a:r>
            <a:r>
              <a:rPr sz="1000" spc="-5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al</a:t>
            </a:r>
            <a:r>
              <a:rPr sz="1000" spc="-45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uso  de </a:t>
            </a:r>
            <a:r>
              <a:rPr sz="1000" spc="-5" dirty="0">
                <a:latin typeface="Montserrat-Light"/>
                <a:cs typeface="Montserrat-Light"/>
              </a:rPr>
              <a:t>estrategias </a:t>
            </a:r>
            <a:r>
              <a:rPr sz="1000" dirty="0">
                <a:latin typeface="Montserrat-Light"/>
                <a:cs typeface="Montserrat-Light"/>
              </a:rPr>
              <a:t>y </a:t>
            </a:r>
            <a:r>
              <a:rPr sz="1000" spc="-5" dirty="0">
                <a:latin typeface="Montserrat-Light"/>
                <a:cs typeface="Montserrat-Light"/>
              </a:rPr>
              <a:t>herramientas </a:t>
            </a:r>
            <a:r>
              <a:rPr sz="1000" dirty="0">
                <a:latin typeface="Montserrat-Light"/>
                <a:cs typeface="Montserrat-Light"/>
              </a:rPr>
              <a:t>que sirven </a:t>
            </a:r>
            <a:r>
              <a:rPr sz="1000" spc="-10" dirty="0">
                <a:latin typeface="Montserrat-Light"/>
                <a:cs typeface="Montserrat-Light"/>
              </a:rPr>
              <a:t>para  </a:t>
            </a:r>
            <a:r>
              <a:rPr sz="1000" spc="-5" dirty="0">
                <a:latin typeface="Montserrat-Light"/>
                <a:cs typeface="Montserrat-Light"/>
              </a:rPr>
              <a:t>transformar información </a:t>
            </a:r>
            <a:r>
              <a:rPr sz="1000" dirty="0">
                <a:latin typeface="Montserrat-Light"/>
                <a:cs typeface="Montserrat-Light"/>
              </a:rPr>
              <a:t>en </a:t>
            </a:r>
            <a:r>
              <a:rPr sz="1000" spc="-5" dirty="0">
                <a:latin typeface="Montserrat-Light"/>
                <a:cs typeface="Montserrat-Light"/>
              </a:rPr>
              <a:t>conocimiento, </a:t>
            </a:r>
            <a:r>
              <a:rPr sz="1000" spc="-10" dirty="0">
                <a:latin typeface="Montserrat-Light"/>
                <a:cs typeface="Montserrat-Light"/>
              </a:rPr>
              <a:t>con  </a:t>
            </a:r>
            <a:r>
              <a:rPr sz="1000" dirty="0">
                <a:latin typeface="Montserrat-Light"/>
                <a:cs typeface="Montserrat-Light"/>
              </a:rPr>
              <a:t>el </a:t>
            </a:r>
            <a:r>
              <a:rPr sz="1000" spc="-5" dirty="0">
                <a:latin typeface="Montserrat-Light"/>
                <a:cs typeface="Montserrat-Light"/>
              </a:rPr>
              <a:t>objetivo </a:t>
            </a:r>
            <a:r>
              <a:rPr sz="1000" dirty="0">
                <a:latin typeface="Montserrat-Light"/>
                <a:cs typeface="Montserrat-Light"/>
              </a:rPr>
              <a:t>de </a:t>
            </a:r>
            <a:r>
              <a:rPr sz="1000" spc="-5" dirty="0">
                <a:latin typeface="Montserrat-Light"/>
                <a:cs typeface="Montserrat-Light"/>
              </a:rPr>
              <a:t>mejorar </a:t>
            </a:r>
            <a:r>
              <a:rPr sz="1000" dirty="0">
                <a:latin typeface="Montserrat-Light"/>
                <a:cs typeface="Montserrat-Light"/>
              </a:rPr>
              <a:t>el </a:t>
            </a:r>
            <a:r>
              <a:rPr sz="1000" spc="-5" dirty="0">
                <a:latin typeface="Montserrat-Light"/>
                <a:cs typeface="Montserrat-Light"/>
              </a:rPr>
              <a:t>proceso </a:t>
            </a:r>
            <a:r>
              <a:rPr sz="1000" dirty="0">
                <a:latin typeface="Montserrat-Light"/>
                <a:cs typeface="Montserrat-Light"/>
              </a:rPr>
              <a:t>de </a:t>
            </a:r>
            <a:r>
              <a:rPr sz="1000" spc="-5" dirty="0">
                <a:latin typeface="Montserrat-Light"/>
                <a:cs typeface="Montserrat-Light"/>
              </a:rPr>
              <a:t>toma </a:t>
            </a:r>
            <a:r>
              <a:rPr sz="1000" dirty="0">
                <a:latin typeface="Montserrat-Light"/>
                <a:cs typeface="Montserrat-Light"/>
              </a:rPr>
              <a:t>de  decisiones en una</a:t>
            </a:r>
            <a:r>
              <a:rPr sz="1000" spc="-10" dirty="0">
                <a:latin typeface="Montserrat-Light"/>
                <a:cs typeface="Montserrat-Light"/>
              </a:rPr>
              <a:t> </a:t>
            </a:r>
            <a:r>
              <a:rPr sz="1000" dirty="0">
                <a:latin typeface="Montserrat-Light"/>
                <a:cs typeface="Montserrat-Light"/>
              </a:rPr>
              <a:t>empresa.</a:t>
            </a:r>
            <a:endParaRPr sz="1000">
              <a:latin typeface="Montserrat-Light"/>
              <a:cs typeface="Montserrat-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45259"/>
            <a:ext cx="10800080" cy="5594985"/>
            <a:chOff x="0" y="1245259"/>
            <a:chExt cx="10800080" cy="5594985"/>
          </a:xfrm>
        </p:grpSpPr>
        <p:sp>
          <p:nvSpPr>
            <p:cNvPr id="3" name="object 3"/>
            <p:cNvSpPr/>
            <p:nvPr/>
          </p:nvSpPr>
          <p:spPr>
            <a:xfrm>
              <a:off x="3707994" y="1245259"/>
              <a:ext cx="7092315" cy="2750820"/>
            </a:xfrm>
            <a:custGeom>
              <a:avLst/>
              <a:gdLst/>
              <a:ahLst/>
              <a:cxnLst/>
              <a:rect l="l" t="t" r="r" b="b"/>
              <a:pathLst>
                <a:path w="7092315" h="2750820">
                  <a:moveTo>
                    <a:pt x="7092010" y="0"/>
                  </a:moveTo>
                  <a:lnTo>
                    <a:pt x="0" y="950747"/>
                  </a:lnTo>
                  <a:lnTo>
                    <a:pt x="2934004" y="2750743"/>
                  </a:lnTo>
                  <a:lnTo>
                    <a:pt x="7092010" y="2750743"/>
                  </a:lnTo>
                  <a:lnTo>
                    <a:pt x="7092010" y="0"/>
                  </a:lnTo>
                  <a:close/>
                </a:path>
              </a:pathLst>
            </a:custGeom>
            <a:solidFill>
              <a:srgbClr val="5E80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26464"/>
              <a:ext cx="3707765" cy="1677670"/>
            </a:xfrm>
            <a:custGeom>
              <a:avLst/>
              <a:gdLst/>
              <a:ahLst/>
              <a:cxnLst/>
              <a:rect l="l" t="t" r="r" b="b"/>
              <a:pathLst>
                <a:path w="3707765" h="1677670">
                  <a:moveTo>
                    <a:pt x="0" y="0"/>
                  </a:moveTo>
                  <a:lnTo>
                    <a:pt x="0" y="1677100"/>
                  </a:lnTo>
                  <a:lnTo>
                    <a:pt x="3707410" y="7710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8D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196002"/>
              <a:ext cx="10800003" cy="46440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62003" y="4992357"/>
              <a:ext cx="4827270" cy="1035050"/>
            </a:xfrm>
            <a:custGeom>
              <a:avLst/>
              <a:gdLst/>
              <a:ahLst/>
              <a:cxnLst/>
              <a:rect l="l" t="t" r="r" b="b"/>
              <a:pathLst>
                <a:path w="4827270" h="1035050">
                  <a:moveTo>
                    <a:pt x="4826647" y="0"/>
                  </a:moveTo>
                  <a:lnTo>
                    <a:pt x="0" y="0"/>
                  </a:lnTo>
                  <a:lnTo>
                    <a:pt x="0" y="1034999"/>
                  </a:lnTo>
                  <a:lnTo>
                    <a:pt x="4826647" y="1034999"/>
                  </a:lnTo>
                  <a:lnTo>
                    <a:pt x="4826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62003" y="4992357"/>
              <a:ext cx="4827270" cy="1035050"/>
            </a:xfrm>
            <a:custGeom>
              <a:avLst/>
              <a:gdLst/>
              <a:ahLst/>
              <a:cxnLst/>
              <a:rect l="l" t="t" r="r" b="b"/>
              <a:pathLst>
                <a:path w="4827270" h="1035050">
                  <a:moveTo>
                    <a:pt x="0" y="1034999"/>
                  </a:moveTo>
                  <a:lnTo>
                    <a:pt x="4826647" y="1034999"/>
                  </a:lnTo>
                  <a:lnTo>
                    <a:pt x="4826647" y="0"/>
                  </a:lnTo>
                  <a:lnTo>
                    <a:pt x="0" y="0"/>
                  </a:lnTo>
                  <a:lnTo>
                    <a:pt x="0" y="1034999"/>
                  </a:lnTo>
                  <a:close/>
                </a:path>
              </a:pathLst>
            </a:custGeom>
            <a:ln w="25400">
              <a:solidFill>
                <a:srgbClr val="F794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199" y="5007584"/>
              <a:ext cx="4789170" cy="1034415"/>
            </a:xfrm>
            <a:custGeom>
              <a:avLst/>
              <a:gdLst/>
              <a:ahLst/>
              <a:cxnLst/>
              <a:rect l="l" t="t" r="r" b="b"/>
              <a:pathLst>
                <a:path w="4789170" h="1034414">
                  <a:moveTo>
                    <a:pt x="4789093" y="0"/>
                  </a:moveTo>
                  <a:lnTo>
                    <a:pt x="0" y="0"/>
                  </a:lnTo>
                  <a:lnTo>
                    <a:pt x="0" y="1034072"/>
                  </a:lnTo>
                  <a:lnTo>
                    <a:pt x="4789093" y="1034072"/>
                  </a:lnTo>
                  <a:lnTo>
                    <a:pt x="4789093" y="0"/>
                  </a:lnTo>
                  <a:close/>
                </a:path>
              </a:pathLst>
            </a:custGeom>
            <a:solidFill>
              <a:srgbClr val="5E80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796000" y="5122993"/>
            <a:ext cx="1088390" cy="219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50" b="1" spc="10" dirty="0">
                <a:solidFill>
                  <a:srgbClr val="F79423"/>
                </a:solidFill>
                <a:latin typeface="Kiona"/>
                <a:cs typeface="Kiona"/>
              </a:rPr>
              <a:t>LiLIana</a:t>
            </a:r>
            <a:r>
              <a:rPr sz="1250" b="1" spc="-70" dirty="0">
                <a:solidFill>
                  <a:srgbClr val="F79423"/>
                </a:solidFill>
                <a:latin typeface="Kiona"/>
                <a:cs typeface="Kiona"/>
              </a:rPr>
              <a:t> </a:t>
            </a:r>
            <a:r>
              <a:rPr sz="1250" b="1" spc="10" dirty="0">
                <a:solidFill>
                  <a:srgbClr val="F79423"/>
                </a:solidFill>
                <a:latin typeface="Kiona"/>
                <a:cs typeface="Kiona"/>
              </a:rPr>
              <a:t>Rose</a:t>
            </a:r>
            <a:endParaRPr sz="1250">
              <a:latin typeface="Kiona"/>
              <a:cs typeface="Kio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31300" y="433933"/>
            <a:ext cx="43040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Canales de</a:t>
            </a:r>
            <a:r>
              <a:rPr spc="-50" dirty="0"/>
              <a:t> </a:t>
            </a:r>
            <a:r>
              <a:rPr spc="-10" dirty="0"/>
              <a:t>comunicación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684005" y="186487"/>
            <a:ext cx="9754870" cy="5621020"/>
            <a:chOff x="684005" y="186487"/>
            <a:chExt cx="9754870" cy="5621020"/>
          </a:xfrm>
        </p:grpSpPr>
        <p:sp>
          <p:nvSpPr>
            <p:cNvPr id="12" name="object 12"/>
            <p:cNvSpPr/>
            <p:nvPr/>
          </p:nvSpPr>
          <p:spPr>
            <a:xfrm>
              <a:off x="6710146" y="186487"/>
              <a:ext cx="3728516" cy="103501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60232" y="5514214"/>
              <a:ext cx="240766" cy="2407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36233" y="5514214"/>
              <a:ext cx="240766" cy="24076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2768" y="5499340"/>
              <a:ext cx="153035" cy="270510"/>
            </a:xfrm>
            <a:custGeom>
              <a:avLst/>
              <a:gdLst/>
              <a:ahLst/>
              <a:cxnLst/>
              <a:rect l="l" t="t" r="r" b="b"/>
              <a:pathLst>
                <a:path w="153035" h="270510">
                  <a:moveTo>
                    <a:pt x="57264" y="28981"/>
                  </a:moveTo>
                  <a:lnTo>
                    <a:pt x="95440" y="28981"/>
                  </a:lnTo>
                </a:path>
                <a:path w="153035" h="270510">
                  <a:moveTo>
                    <a:pt x="0" y="57962"/>
                  </a:moveTo>
                  <a:lnTo>
                    <a:pt x="152717" y="57962"/>
                  </a:lnTo>
                </a:path>
                <a:path w="153035" h="270510">
                  <a:moveTo>
                    <a:pt x="0" y="212534"/>
                  </a:moveTo>
                  <a:lnTo>
                    <a:pt x="152717" y="212534"/>
                  </a:lnTo>
                </a:path>
                <a:path w="153035" h="270510">
                  <a:moveTo>
                    <a:pt x="0" y="28981"/>
                  </a:moveTo>
                  <a:lnTo>
                    <a:pt x="2249" y="17702"/>
                  </a:lnTo>
                  <a:lnTo>
                    <a:pt x="8383" y="8489"/>
                  </a:lnTo>
                  <a:lnTo>
                    <a:pt x="17482" y="2278"/>
                  </a:lnTo>
                  <a:lnTo>
                    <a:pt x="28625" y="0"/>
                  </a:lnTo>
                  <a:lnTo>
                    <a:pt x="124079" y="0"/>
                  </a:lnTo>
                  <a:lnTo>
                    <a:pt x="135224" y="2278"/>
                  </a:lnTo>
                  <a:lnTo>
                    <a:pt x="144327" y="8489"/>
                  </a:lnTo>
                  <a:lnTo>
                    <a:pt x="150466" y="17702"/>
                  </a:lnTo>
                  <a:lnTo>
                    <a:pt x="152717" y="28981"/>
                  </a:lnTo>
                  <a:lnTo>
                    <a:pt x="152717" y="241515"/>
                  </a:lnTo>
                  <a:lnTo>
                    <a:pt x="150466" y="252807"/>
                  </a:lnTo>
                  <a:lnTo>
                    <a:pt x="144327" y="262020"/>
                  </a:lnTo>
                  <a:lnTo>
                    <a:pt x="135224" y="268231"/>
                  </a:lnTo>
                  <a:lnTo>
                    <a:pt x="124079" y="270509"/>
                  </a:lnTo>
                  <a:lnTo>
                    <a:pt x="28625" y="270509"/>
                  </a:lnTo>
                  <a:lnTo>
                    <a:pt x="17487" y="268231"/>
                  </a:lnTo>
                  <a:lnTo>
                    <a:pt x="8388" y="262020"/>
                  </a:lnTo>
                  <a:lnTo>
                    <a:pt x="2251" y="252807"/>
                  </a:lnTo>
                  <a:lnTo>
                    <a:pt x="0" y="241528"/>
                  </a:lnTo>
                  <a:lnTo>
                    <a:pt x="0" y="28981"/>
                  </a:lnTo>
                  <a:close/>
                </a:path>
                <a:path w="153035" h="270510">
                  <a:moveTo>
                    <a:pt x="85902" y="241515"/>
                  </a:moveTo>
                  <a:lnTo>
                    <a:pt x="85902" y="246862"/>
                  </a:lnTo>
                  <a:lnTo>
                    <a:pt x="81622" y="251193"/>
                  </a:lnTo>
                  <a:lnTo>
                    <a:pt x="76352" y="251193"/>
                  </a:lnTo>
                  <a:lnTo>
                    <a:pt x="71094" y="251193"/>
                  </a:lnTo>
                  <a:lnTo>
                    <a:pt x="66814" y="246862"/>
                  </a:lnTo>
                  <a:lnTo>
                    <a:pt x="66814" y="241515"/>
                  </a:lnTo>
                  <a:lnTo>
                    <a:pt x="66814" y="236194"/>
                  </a:lnTo>
                  <a:lnTo>
                    <a:pt x="71094" y="231863"/>
                  </a:lnTo>
                  <a:lnTo>
                    <a:pt x="76352" y="231863"/>
                  </a:lnTo>
                  <a:lnTo>
                    <a:pt x="81622" y="231863"/>
                  </a:lnTo>
                  <a:lnTo>
                    <a:pt x="85902" y="236194"/>
                  </a:lnTo>
                  <a:lnTo>
                    <a:pt x="85902" y="241515"/>
                  </a:lnTo>
                  <a:close/>
                </a:path>
              </a:pathLst>
            </a:custGeom>
            <a:ln w="9525">
              <a:solidFill>
                <a:srgbClr val="1C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8767" y="5499340"/>
              <a:ext cx="153035" cy="270510"/>
            </a:xfrm>
            <a:custGeom>
              <a:avLst/>
              <a:gdLst/>
              <a:ahLst/>
              <a:cxnLst/>
              <a:rect l="l" t="t" r="r" b="b"/>
              <a:pathLst>
                <a:path w="153034" h="270510">
                  <a:moveTo>
                    <a:pt x="57264" y="28981"/>
                  </a:moveTo>
                  <a:lnTo>
                    <a:pt x="95440" y="28981"/>
                  </a:lnTo>
                </a:path>
                <a:path w="153034" h="270510">
                  <a:moveTo>
                    <a:pt x="0" y="57962"/>
                  </a:moveTo>
                  <a:lnTo>
                    <a:pt x="152717" y="57962"/>
                  </a:lnTo>
                </a:path>
                <a:path w="153034" h="270510">
                  <a:moveTo>
                    <a:pt x="0" y="212534"/>
                  </a:moveTo>
                  <a:lnTo>
                    <a:pt x="152717" y="212534"/>
                  </a:lnTo>
                </a:path>
                <a:path w="153034" h="270510">
                  <a:moveTo>
                    <a:pt x="0" y="28981"/>
                  </a:moveTo>
                  <a:lnTo>
                    <a:pt x="2249" y="17702"/>
                  </a:lnTo>
                  <a:lnTo>
                    <a:pt x="8383" y="8489"/>
                  </a:lnTo>
                  <a:lnTo>
                    <a:pt x="17482" y="2278"/>
                  </a:lnTo>
                  <a:lnTo>
                    <a:pt x="28625" y="0"/>
                  </a:lnTo>
                  <a:lnTo>
                    <a:pt x="124079" y="0"/>
                  </a:lnTo>
                  <a:lnTo>
                    <a:pt x="135224" y="2278"/>
                  </a:lnTo>
                  <a:lnTo>
                    <a:pt x="144327" y="8489"/>
                  </a:lnTo>
                  <a:lnTo>
                    <a:pt x="150466" y="17702"/>
                  </a:lnTo>
                  <a:lnTo>
                    <a:pt x="152717" y="28981"/>
                  </a:lnTo>
                  <a:lnTo>
                    <a:pt x="152717" y="241515"/>
                  </a:lnTo>
                  <a:lnTo>
                    <a:pt x="150466" y="252807"/>
                  </a:lnTo>
                  <a:lnTo>
                    <a:pt x="144327" y="262020"/>
                  </a:lnTo>
                  <a:lnTo>
                    <a:pt x="135224" y="268231"/>
                  </a:lnTo>
                  <a:lnTo>
                    <a:pt x="124079" y="270509"/>
                  </a:lnTo>
                  <a:lnTo>
                    <a:pt x="28625" y="270509"/>
                  </a:lnTo>
                  <a:lnTo>
                    <a:pt x="17487" y="268231"/>
                  </a:lnTo>
                  <a:lnTo>
                    <a:pt x="8388" y="262020"/>
                  </a:lnTo>
                  <a:lnTo>
                    <a:pt x="2251" y="252807"/>
                  </a:lnTo>
                  <a:lnTo>
                    <a:pt x="0" y="241528"/>
                  </a:lnTo>
                  <a:lnTo>
                    <a:pt x="0" y="28981"/>
                  </a:lnTo>
                  <a:close/>
                </a:path>
                <a:path w="153034" h="270510">
                  <a:moveTo>
                    <a:pt x="85902" y="241515"/>
                  </a:moveTo>
                  <a:lnTo>
                    <a:pt x="85902" y="246862"/>
                  </a:lnTo>
                  <a:lnTo>
                    <a:pt x="81622" y="251193"/>
                  </a:lnTo>
                  <a:lnTo>
                    <a:pt x="76352" y="251193"/>
                  </a:lnTo>
                  <a:lnTo>
                    <a:pt x="71094" y="251193"/>
                  </a:lnTo>
                  <a:lnTo>
                    <a:pt x="66814" y="246862"/>
                  </a:lnTo>
                  <a:lnTo>
                    <a:pt x="66814" y="241515"/>
                  </a:lnTo>
                  <a:lnTo>
                    <a:pt x="66814" y="236194"/>
                  </a:lnTo>
                  <a:lnTo>
                    <a:pt x="71094" y="231863"/>
                  </a:lnTo>
                  <a:lnTo>
                    <a:pt x="76352" y="231863"/>
                  </a:lnTo>
                  <a:lnTo>
                    <a:pt x="81622" y="231863"/>
                  </a:lnTo>
                  <a:lnTo>
                    <a:pt x="85902" y="236194"/>
                  </a:lnTo>
                  <a:lnTo>
                    <a:pt x="85902" y="24151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5240" y="5448031"/>
              <a:ext cx="0" cy="359410"/>
            </a:xfrm>
            <a:custGeom>
              <a:avLst/>
              <a:gdLst/>
              <a:ahLst/>
              <a:cxnLst/>
              <a:rect l="l" t="t" r="r" b="b"/>
              <a:pathLst>
                <a:path h="359410">
                  <a:moveTo>
                    <a:pt x="0" y="35924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1C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1240" y="5448031"/>
              <a:ext cx="0" cy="359410"/>
            </a:xfrm>
            <a:custGeom>
              <a:avLst/>
              <a:gdLst/>
              <a:ahLst/>
              <a:cxnLst/>
              <a:rect l="l" t="t" r="r" b="b"/>
              <a:pathLst>
                <a:path h="359410">
                  <a:moveTo>
                    <a:pt x="0" y="35924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269558" y="5158238"/>
            <a:ext cx="149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1C3C6E"/>
                </a:solidFill>
                <a:latin typeface="Montserrat-Medium"/>
                <a:cs typeface="Montserrat-Medium"/>
              </a:rPr>
              <a:t>ATENCIÓN </a:t>
            </a:r>
            <a:r>
              <a:rPr sz="1000" dirty="0">
                <a:solidFill>
                  <a:srgbClr val="1C3C6E"/>
                </a:solidFill>
                <a:latin typeface="Montserrat-Medium"/>
                <a:cs typeface="Montserrat-Medium"/>
              </a:rPr>
              <a:t>A</a:t>
            </a:r>
            <a:r>
              <a:rPr sz="1000" spc="-75" dirty="0">
                <a:solidFill>
                  <a:srgbClr val="1C3C6E"/>
                </a:solidFill>
                <a:latin typeface="Montserrat-Medium"/>
                <a:cs typeface="Montserrat-Medium"/>
              </a:rPr>
              <a:t> </a:t>
            </a:r>
            <a:r>
              <a:rPr sz="1000" dirty="0">
                <a:solidFill>
                  <a:srgbClr val="1C3C6E"/>
                </a:solidFill>
                <a:latin typeface="Montserrat-Medium"/>
                <a:cs typeface="Montserrat-Medium"/>
              </a:rPr>
              <a:t>CLIENTES</a:t>
            </a:r>
            <a:endParaRPr sz="1000">
              <a:latin typeface="Montserrat-Medium"/>
              <a:cs typeface="Montserrat-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69558" y="5488438"/>
            <a:ext cx="119126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1C3C6E"/>
                </a:solidFill>
                <a:latin typeface="Montserrat-Light"/>
                <a:cs typeface="Montserrat-Light"/>
                <a:hlinkClick r:id="rId6"/>
              </a:rPr>
              <a:t>E:</a:t>
            </a:r>
            <a:r>
              <a:rPr sz="1000" spc="-40" dirty="0">
                <a:solidFill>
                  <a:srgbClr val="1C3C6E"/>
                </a:solidFill>
                <a:latin typeface="Montserrat-Light"/>
                <a:cs typeface="Montserrat-Light"/>
                <a:hlinkClick r:id="rId6"/>
              </a:rPr>
              <a:t> </a:t>
            </a:r>
            <a:r>
              <a:rPr sz="1000" spc="-5" dirty="0">
                <a:solidFill>
                  <a:srgbClr val="1C3C6E"/>
                </a:solidFill>
                <a:latin typeface="Montserrat-Light"/>
                <a:cs typeface="Montserrat-Light"/>
                <a:hlinkClick r:id="rId6"/>
              </a:rPr>
              <a:t>info@direktor.pe </a:t>
            </a:r>
            <a:r>
              <a:rPr sz="1000" spc="-5" dirty="0">
                <a:solidFill>
                  <a:srgbClr val="1C3C6E"/>
                </a:solidFill>
                <a:latin typeface="Montserrat-Light"/>
                <a:cs typeface="Montserrat-Light"/>
              </a:rPr>
              <a:t> </a:t>
            </a:r>
            <a:r>
              <a:rPr sz="1000" dirty="0">
                <a:solidFill>
                  <a:srgbClr val="1C3C6E"/>
                </a:solidFill>
                <a:latin typeface="Montserrat-Light"/>
                <a:cs typeface="Montserrat-Light"/>
              </a:rPr>
              <a:t>T:</a:t>
            </a:r>
            <a:r>
              <a:rPr sz="1000" spc="-20" dirty="0">
                <a:solidFill>
                  <a:srgbClr val="1C3C6E"/>
                </a:solidFill>
                <a:latin typeface="Montserrat-Light"/>
                <a:cs typeface="Montserrat-Light"/>
              </a:rPr>
              <a:t> </a:t>
            </a:r>
            <a:r>
              <a:rPr sz="1000" spc="-5" dirty="0">
                <a:solidFill>
                  <a:srgbClr val="1C3C6E"/>
                </a:solidFill>
                <a:latin typeface="Montserrat-Light"/>
                <a:cs typeface="Montserrat-Light"/>
              </a:rPr>
              <a:t>+01.132.4567.890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7200" y="5007584"/>
            <a:ext cx="4789170" cy="103441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25"/>
              </a:spcBef>
            </a:pPr>
            <a:r>
              <a:rPr sz="1250" b="1" spc="10" dirty="0">
                <a:solidFill>
                  <a:srgbClr val="FFFFFF"/>
                </a:solidFill>
                <a:latin typeface="Kiona"/>
                <a:cs typeface="Kiona"/>
              </a:rPr>
              <a:t>Diego </a:t>
            </a:r>
            <a:r>
              <a:rPr sz="1250" b="1" spc="-10" dirty="0">
                <a:solidFill>
                  <a:srgbClr val="FFFFFF"/>
                </a:solidFill>
                <a:latin typeface="Kiona"/>
                <a:cs typeface="Kiona"/>
              </a:rPr>
              <a:t>warthon</a:t>
            </a:r>
            <a:r>
              <a:rPr sz="1250" b="1" spc="-70" dirty="0">
                <a:solidFill>
                  <a:srgbClr val="FFFFFF"/>
                </a:solidFill>
                <a:latin typeface="Kiona"/>
                <a:cs typeface="Kion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Kiona"/>
                <a:cs typeface="Kiona"/>
              </a:rPr>
              <a:t>HURTADO</a:t>
            </a:r>
            <a:endParaRPr sz="1250">
              <a:latin typeface="Kiona"/>
              <a:cs typeface="Kiona"/>
            </a:endParaRPr>
          </a:p>
          <a:p>
            <a:pPr marL="1174750" marR="1967230">
              <a:lnSpc>
                <a:spcPct val="125000"/>
              </a:lnSpc>
              <a:spcBef>
                <a:spcPts val="705"/>
              </a:spcBef>
            </a:pP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  <a:hlinkClick r:id="rId7"/>
              </a:rPr>
              <a:t>E: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  <a:hlinkClick r:id="rId7"/>
              </a:rPr>
              <a:t> dwhurtado@direktor.pe 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 </a:t>
            </a:r>
            <a:r>
              <a:rPr sz="1000" dirty="0">
                <a:solidFill>
                  <a:srgbClr val="FFFFFF"/>
                </a:solidFill>
                <a:latin typeface="Montserrat-Light"/>
                <a:cs typeface="Montserrat-Light"/>
              </a:rPr>
              <a:t>T:</a:t>
            </a:r>
            <a:r>
              <a:rPr sz="1000" spc="-5" dirty="0">
                <a:solidFill>
                  <a:srgbClr val="FFFFFF"/>
                </a:solidFill>
                <a:latin typeface="Montserrat-Light"/>
                <a:cs typeface="Montserrat-Light"/>
              </a:rPr>
              <a:t> +01.132.4567.890</a:t>
            </a:r>
            <a:endParaRPr sz="1000">
              <a:latin typeface="Montserrat-Light"/>
              <a:cs typeface="Montserrat-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19299" y="1829153"/>
            <a:ext cx="10388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solidFill>
                  <a:srgbClr val="FFFFFF"/>
                </a:solidFill>
                <a:latin typeface="Kiona"/>
                <a:cs typeface="Kiona"/>
              </a:rPr>
              <a:t>ContactO</a:t>
            </a:r>
            <a:endParaRPr sz="1500">
              <a:latin typeface="Kiona"/>
              <a:cs typeface="Kio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19299" y="2206266"/>
            <a:ext cx="1507490" cy="44069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5" dirty="0">
                <a:solidFill>
                  <a:srgbClr val="FFFFFF"/>
                </a:solidFill>
                <a:latin typeface="Montserrat"/>
                <a:cs typeface="Montserrat"/>
              </a:rPr>
              <a:t>Dirección</a:t>
            </a:r>
            <a:endParaRPr sz="1000">
              <a:latin typeface="Montserrat"/>
              <a:cs typeface="Montserrat"/>
            </a:endParaRPr>
          </a:p>
          <a:p>
            <a:pPr marL="12700" marR="5080">
              <a:lnSpc>
                <a:spcPct val="100000"/>
              </a:lnSpc>
              <a:spcBef>
                <a:spcPts val="65"/>
              </a:spcBef>
            </a:pPr>
            <a:r>
              <a:rPr sz="800" spc="-10" dirty="0">
                <a:solidFill>
                  <a:srgbClr val="FFFFFF"/>
                </a:solidFill>
                <a:latin typeface="Montserrat"/>
                <a:cs typeface="Montserrat"/>
              </a:rPr>
              <a:t>Avenida </a:t>
            </a:r>
            <a:r>
              <a:rPr sz="800" dirty="0">
                <a:solidFill>
                  <a:srgbClr val="FFFFFF"/>
                </a:solidFill>
                <a:latin typeface="Montserrat"/>
                <a:cs typeface="Montserrat"/>
              </a:rPr>
              <a:t>Parque 1200.</a:t>
            </a:r>
            <a:r>
              <a:rPr sz="800" spc="-2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Montserrat"/>
                <a:cs typeface="Montserrat"/>
              </a:rPr>
              <a:t>Distrito  </a:t>
            </a:r>
            <a:r>
              <a:rPr sz="800" dirty="0">
                <a:solidFill>
                  <a:srgbClr val="FFFFFF"/>
                </a:solidFill>
                <a:latin typeface="Montserrat"/>
                <a:cs typeface="Montserrat"/>
              </a:rPr>
              <a:t>Empresarial, Lima,</a:t>
            </a:r>
            <a:r>
              <a:rPr sz="800" spc="-2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800" dirty="0">
                <a:solidFill>
                  <a:srgbClr val="FFFFFF"/>
                </a:solidFill>
                <a:latin typeface="Montserrat"/>
                <a:cs typeface="Montserrat"/>
              </a:rPr>
              <a:t>Perú.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97617" y="2240924"/>
            <a:ext cx="1328420" cy="44323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Teléfonos</a:t>
            </a:r>
            <a:endParaRPr sz="10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solidFill>
                  <a:srgbClr val="FFFFFF"/>
                </a:solidFill>
                <a:latin typeface="Montserrat"/>
                <a:cs typeface="Montserrat"/>
              </a:rPr>
              <a:t>+123 456 789 124</a:t>
            </a:r>
            <a:r>
              <a:rPr sz="800" spc="-5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Montserrat"/>
                <a:cs typeface="Montserrat"/>
              </a:rPr>
              <a:t>(Soporte)</a:t>
            </a:r>
            <a:endParaRPr sz="8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FFFFFF"/>
                </a:solidFill>
                <a:latin typeface="Montserrat"/>
                <a:cs typeface="Montserrat"/>
              </a:rPr>
              <a:t>+123 456 345 221</a:t>
            </a:r>
            <a:r>
              <a:rPr sz="800" spc="-4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800" dirty="0">
                <a:solidFill>
                  <a:srgbClr val="FFFFFF"/>
                </a:solidFill>
                <a:latin typeface="Montserrat"/>
                <a:cs typeface="Montserrat"/>
              </a:rPr>
              <a:t>(Oficina)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29550" y="6246733"/>
            <a:ext cx="174434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20" dirty="0">
                <a:solidFill>
                  <a:srgbClr val="FFFFFF"/>
                </a:solidFill>
                <a:latin typeface="DIN-Medium"/>
                <a:cs typeface="DIN-Medium"/>
              </a:rPr>
              <a:t>&gt;</a:t>
            </a:r>
            <a:r>
              <a:rPr sz="1100" spc="210" dirty="0">
                <a:solidFill>
                  <a:srgbClr val="FFFFFF"/>
                </a:solidFill>
                <a:latin typeface="DIN-Medium"/>
                <a:cs typeface="DIN-Medium"/>
              </a:rPr>
              <a:t> </a:t>
            </a:r>
            <a:r>
              <a:rPr sz="1100" b="1" spc="20" dirty="0">
                <a:solidFill>
                  <a:srgbClr val="FFFFFF"/>
                </a:solidFill>
                <a:latin typeface="Montserrat"/>
                <a:cs typeface="Montserrat"/>
                <a:hlinkClick r:id="rId8"/>
              </a:rPr>
              <a:t>WWW.DIREKTOR.PE</a:t>
            </a:r>
            <a:endParaRPr sz="11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1031</Words>
  <Application>Microsoft Macintosh PowerPoint</Application>
  <PresentationFormat>Personalizado</PresentationFormat>
  <Paragraphs>119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Quiénes somos</vt:lpstr>
      <vt:lpstr>Nuestra historia a través del contexto</vt:lpstr>
      <vt:lpstr>ESTRATEGIA</vt:lpstr>
      <vt:lpstr>Servicios</vt:lpstr>
      <vt:lpstr>Presentación de PowerPoint</vt:lpstr>
      <vt:lpstr>Cultura de Datos</vt:lpstr>
      <vt:lpstr>Canales de comunicación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Beatriz E Gallardo Lozano</cp:lastModifiedBy>
  <cp:revision>4</cp:revision>
  <dcterms:created xsi:type="dcterms:W3CDTF">2020-12-09T18:19:39Z</dcterms:created>
  <dcterms:modified xsi:type="dcterms:W3CDTF">2020-12-09T22:56:44Z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2020-12-09T00:00:00Z</vt:filetime>
  </property>
  <property fmtid="{D5CDD505-2E9C-101B-9397-08002B2CF9AE}" pid="3" name="Creator">
    <vt:lpwstr>Adobe InDesign CC 14.0 (Macintosh)</vt:lpwstr>
  </property>
  <property fmtid="{D5CDD505-2E9C-101B-9397-08002B2CF9AE}" pid="4" name="LastSaved">
    <vt:filetime>2020-12-09T00:00:00Z</vt:filetime>
  </property>
</Properties>
</file>